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69" r:id="rId4"/>
    <p:sldId id="257" r:id="rId5"/>
    <p:sldId id="268" r:id="rId6"/>
    <p:sldId id="258" r:id="rId7"/>
    <p:sldId id="259" r:id="rId8"/>
    <p:sldId id="263" r:id="rId9"/>
    <p:sldId id="264" r:id="rId10"/>
    <p:sldId id="267" r:id="rId11"/>
    <p:sldId id="265" r:id="rId12"/>
    <p:sldId id="261" r:id="rId13"/>
    <p:sldId id="262" r:id="rId14"/>
    <p:sldId id="26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50D4"/>
    <a:srgbClr val="6B21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99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833C2-CE95-CCD3-B66E-A853A3B6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03C6A-6189-8BEC-17E3-B987299B8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F44D9-F972-6FC2-74B7-8AD0781B1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376CB-0616-D26B-4994-0ABC82451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77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logo_cy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661182"/>
            <a:ext cx="320040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3278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Back-end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474720" y="2764302"/>
            <a:ext cx="2194560" cy="0"/>
          </a:xfrm>
          <a:prstGeom prst="line">
            <a:avLst/>
          </a:prstGeom>
          <a:noFill/>
          <a:ln w="254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57200" y="303862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Ilane MAC-LUCKIE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40438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Limayrac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Bloc 1 · 20/02/2026</a:t>
            </a:r>
            <a:endParaRPr lang="en-US" sz="1100" dirty="0"/>
          </a:p>
        </p:txBody>
      </p:sp>
      <p:pic>
        <p:nvPicPr>
          <p:cNvPr id="9" name="Image 1" descr="/home/claude/logo_limayr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46" y="4598025"/>
            <a:ext cx="1097280" cy="320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170EA-4D13-B01E-00B6-2BBE5FE81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D9F69638-636E-A569-3C5E-6B0DA23B3783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703D063B-2775-C122-1945-58E7673CD852}"/>
              </a:ext>
            </a:extLst>
          </p:cNvPr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BCA4D87D-11D7-33BB-6A5C-D13BC97E3AB3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SOMMAIRE</a:t>
            </a:r>
            <a:endParaRPr lang="en-US" sz="28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B35BF1E-38E3-0585-9EC2-E5511BB651B9}"/>
              </a:ext>
            </a:extLst>
          </p:cNvPr>
          <p:cNvSpPr/>
          <p:nvPr/>
        </p:nvSpPr>
        <p:spPr>
          <a:xfrm>
            <a:off x="671732" y="13568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CB4CDC8-3BA2-4D09-48D3-A57DA1922033}"/>
              </a:ext>
            </a:extLst>
          </p:cNvPr>
          <p:cNvSpPr/>
          <p:nvPr/>
        </p:nvSpPr>
        <p:spPr>
          <a:xfrm>
            <a:off x="1311812" y="13568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166BDC8-B8AF-1776-CF34-1850B6FB99BE}"/>
              </a:ext>
            </a:extLst>
          </p:cNvPr>
          <p:cNvSpPr/>
          <p:nvPr/>
        </p:nvSpPr>
        <p:spPr>
          <a:xfrm>
            <a:off x="4877972" y="135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Équipe, rôles et périmètre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91DA0AB-255B-EE8E-3913-FAFA4236C52A}"/>
              </a:ext>
            </a:extLst>
          </p:cNvPr>
          <p:cNvSpPr/>
          <p:nvPr/>
        </p:nvSpPr>
        <p:spPr>
          <a:xfrm>
            <a:off x="671732" y="1832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24200869-5F40-74B8-9543-2B97DDD36A2C}"/>
              </a:ext>
            </a:extLst>
          </p:cNvPr>
          <p:cNvSpPr/>
          <p:nvPr/>
        </p:nvSpPr>
        <p:spPr>
          <a:xfrm>
            <a:off x="1311812" y="192445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Planning &amp; </a:t>
            </a:r>
            <a:r>
              <a:rPr lang="en-US" sz="1400" b="1" dirty="0" err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Organisation</a:t>
            </a:r>
            <a:endParaRPr lang="en-US" sz="1400" b="1" dirty="0">
              <a:solidFill>
                <a:srgbClr val="FFFFFF"/>
              </a:solidFill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AB76839D-1D08-4E8F-8B7B-C54A068D7232}"/>
              </a:ext>
            </a:extLst>
          </p:cNvPr>
          <p:cNvSpPr/>
          <p:nvPr/>
        </p:nvSpPr>
        <p:spPr>
          <a:xfrm>
            <a:off x="4877972" y="1832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mois · 3 jalons · Méthode Agile</a:t>
            </a: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D55BD12B-32FB-0394-26D6-95ADCDFC90C6}"/>
              </a:ext>
            </a:extLst>
          </p:cNvPr>
          <p:cNvSpPr/>
          <p:nvPr/>
        </p:nvSpPr>
        <p:spPr>
          <a:xfrm>
            <a:off x="671732" y="2307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02C5A405-C1AE-1AA0-DB3E-77B50F1533BB}"/>
              </a:ext>
            </a:extLst>
          </p:cNvPr>
          <p:cNvSpPr/>
          <p:nvPr/>
        </p:nvSpPr>
        <p:spPr>
          <a:xfrm>
            <a:off x="1311812" y="230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400" b="1" dirty="0">
              <a:solidFill>
                <a:srgbClr val="FFFFFF"/>
              </a:solidFill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76BF0CCE-A7E2-4B69-BEAC-9080949864D7}"/>
              </a:ext>
            </a:extLst>
          </p:cNvPr>
          <p:cNvSpPr/>
          <p:nvPr/>
        </p:nvSpPr>
        <p:spPr>
          <a:xfrm>
            <a:off x="4877972" y="2307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doit respecter avant de choisir nos technologies</a:t>
            </a: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1CAF7DC7-67CD-6DF1-E643-038097E3A0E3}"/>
              </a:ext>
            </a:extLst>
          </p:cNvPr>
          <p:cNvSpPr/>
          <p:nvPr/>
        </p:nvSpPr>
        <p:spPr>
          <a:xfrm>
            <a:off x="671732" y="2783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CAE44A51-5481-87C3-A8D6-722F2D145BC4}"/>
              </a:ext>
            </a:extLst>
          </p:cNvPr>
          <p:cNvSpPr/>
          <p:nvPr/>
        </p:nvSpPr>
        <p:spPr>
          <a:xfrm>
            <a:off x="1311812" y="2783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</a:t>
            </a: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7BE7EFD3-B7E2-A7BE-B561-EB0205498969}"/>
              </a:ext>
            </a:extLst>
          </p:cNvPr>
          <p:cNvSpPr/>
          <p:nvPr/>
        </p:nvSpPr>
        <p:spPr>
          <a:xfrm>
            <a:off x="4877972" y="2783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tenu des contraintes, voici nos technologies</a:t>
            </a: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5CAFDD6E-CB3C-0EDD-F49B-214374155203}"/>
              </a:ext>
            </a:extLst>
          </p:cNvPr>
          <p:cNvSpPr/>
          <p:nvPr/>
        </p:nvSpPr>
        <p:spPr>
          <a:xfrm>
            <a:off x="671732" y="32587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675FACA0-D08D-25A7-D4B9-FD2CA0E76B2B}"/>
              </a:ext>
            </a:extLst>
          </p:cNvPr>
          <p:cNvSpPr/>
          <p:nvPr/>
        </p:nvSpPr>
        <p:spPr>
          <a:xfrm>
            <a:off x="1311812" y="3258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Architecture </a:t>
            </a:r>
            <a:r>
              <a:rPr lang="en-US" sz="1400" b="1" dirty="0" err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Globale</a:t>
            </a:r>
            <a:endParaRPr lang="en-US" sz="14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3C345B4E-69E3-D083-D1D9-07E603F9BF23}"/>
              </a:ext>
            </a:extLst>
          </p:cNvPr>
          <p:cNvSpPr/>
          <p:nvPr/>
        </p:nvSpPr>
        <p:spPr>
          <a:xfrm>
            <a:off x="4877972" y="32587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blocs principaux qui communiquent entre eux</a:t>
            </a: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DE9BA21A-BF66-A39A-1060-D04C915A5A6B}"/>
              </a:ext>
            </a:extLst>
          </p:cNvPr>
          <p:cNvSpPr/>
          <p:nvPr/>
        </p:nvSpPr>
        <p:spPr>
          <a:xfrm>
            <a:off x="671732" y="37342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11299CF3-1CE1-484A-EC54-BAB8E5032DC5}"/>
              </a:ext>
            </a:extLst>
          </p:cNvPr>
          <p:cNvSpPr/>
          <p:nvPr/>
        </p:nvSpPr>
        <p:spPr>
          <a:xfrm>
            <a:off x="1311812" y="3734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4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905ECA9A-6D51-5BCE-210E-A8672CB74484}"/>
              </a:ext>
            </a:extLst>
          </p:cNvPr>
          <p:cNvSpPr/>
          <p:nvPr/>
        </p:nvSpPr>
        <p:spPr>
          <a:xfrm>
            <a:off x="4877972" y="37342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fr-FR" sz="12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1382BF78-557F-B449-EFA2-FE8C1BA3B41A}"/>
              </a:ext>
            </a:extLst>
          </p:cNvPr>
          <p:cNvSpPr/>
          <p:nvPr/>
        </p:nvSpPr>
        <p:spPr>
          <a:xfrm>
            <a:off x="671732" y="4209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83EC68A2-E420-86FB-F82C-E9F05C99FEE5}"/>
              </a:ext>
            </a:extLst>
          </p:cNvPr>
          <p:cNvSpPr/>
          <p:nvPr/>
        </p:nvSpPr>
        <p:spPr>
          <a:xfrm>
            <a:off x="1311812" y="4209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Prochaine</a:t>
            </a:r>
            <a:r>
              <a:rPr lang="en-US" sz="1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 étape</a:t>
            </a:r>
            <a:endParaRPr lang="en-US" sz="1400" dirty="0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5ECD7A0E-E348-C25D-9BF6-30DB1261E391}"/>
              </a:ext>
            </a:extLst>
          </p:cNvPr>
          <p:cNvSpPr/>
          <p:nvPr/>
        </p:nvSpPr>
        <p:spPr>
          <a:xfrm>
            <a:off x="4877972" y="4209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Backend — Mars – Avril 2026</a:t>
            </a:r>
          </a:p>
        </p:txBody>
      </p:sp>
      <p:sp>
        <p:nvSpPr>
          <p:cNvPr id="37" name="Flèche : chevron 36">
            <a:extLst>
              <a:ext uri="{FF2B5EF4-FFF2-40B4-BE49-F238E27FC236}">
                <a16:creationId xmlns:a16="http://schemas.microsoft.com/office/drawing/2014/main" id="{6665DE28-A7DD-22EF-4C29-B0E02C663F9D}"/>
              </a:ext>
            </a:extLst>
          </p:cNvPr>
          <p:cNvSpPr/>
          <p:nvPr/>
        </p:nvSpPr>
        <p:spPr>
          <a:xfrm>
            <a:off x="457200" y="1435600"/>
            <a:ext cx="175846" cy="218049"/>
          </a:xfrm>
          <a:prstGeom prst="chevron">
            <a:avLst/>
          </a:prstGeom>
          <a:solidFill>
            <a:srgbClr val="775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8" name="Flèche : chevron 37">
            <a:extLst>
              <a:ext uri="{FF2B5EF4-FFF2-40B4-BE49-F238E27FC236}">
                <a16:creationId xmlns:a16="http://schemas.microsoft.com/office/drawing/2014/main" id="{5F8E30A9-D681-6C6C-941C-2A2C61CED0DB}"/>
              </a:ext>
            </a:extLst>
          </p:cNvPr>
          <p:cNvSpPr/>
          <p:nvPr/>
        </p:nvSpPr>
        <p:spPr>
          <a:xfrm>
            <a:off x="457200" y="1889285"/>
            <a:ext cx="175846" cy="218049"/>
          </a:xfrm>
          <a:prstGeom prst="chevron">
            <a:avLst/>
          </a:prstGeom>
          <a:solidFill>
            <a:srgbClr val="775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9" name="Flèche : chevron 38">
            <a:extLst>
              <a:ext uri="{FF2B5EF4-FFF2-40B4-BE49-F238E27FC236}">
                <a16:creationId xmlns:a16="http://schemas.microsoft.com/office/drawing/2014/main" id="{5488D27F-F1A7-1B09-A9A4-0C76A082B595}"/>
              </a:ext>
            </a:extLst>
          </p:cNvPr>
          <p:cNvSpPr/>
          <p:nvPr/>
        </p:nvSpPr>
        <p:spPr>
          <a:xfrm>
            <a:off x="457200" y="2385173"/>
            <a:ext cx="175846" cy="218049"/>
          </a:xfrm>
          <a:prstGeom prst="chevron">
            <a:avLst/>
          </a:prstGeom>
          <a:solidFill>
            <a:srgbClr val="775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0" name="Flèche : chevron 39">
            <a:extLst>
              <a:ext uri="{FF2B5EF4-FFF2-40B4-BE49-F238E27FC236}">
                <a16:creationId xmlns:a16="http://schemas.microsoft.com/office/drawing/2014/main" id="{387D14B7-A607-FDB1-08FD-48AEA171752D}"/>
              </a:ext>
            </a:extLst>
          </p:cNvPr>
          <p:cNvSpPr/>
          <p:nvPr/>
        </p:nvSpPr>
        <p:spPr>
          <a:xfrm>
            <a:off x="457200" y="2857143"/>
            <a:ext cx="175846" cy="218049"/>
          </a:xfrm>
          <a:prstGeom prst="chevron">
            <a:avLst/>
          </a:prstGeom>
          <a:solidFill>
            <a:srgbClr val="775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1" name="Flèche : chevron 40">
            <a:extLst>
              <a:ext uri="{FF2B5EF4-FFF2-40B4-BE49-F238E27FC236}">
                <a16:creationId xmlns:a16="http://schemas.microsoft.com/office/drawing/2014/main" id="{8C73F504-8345-8833-3158-F93FD0BD303A}"/>
              </a:ext>
            </a:extLst>
          </p:cNvPr>
          <p:cNvSpPr/>
          <p:nvPr/>
        </p:nvSpPr>
        <p:spPr>
          <a:xfrm>
            <a:off x="457200" y="3329113"/>
            <a:ext cx="175846" cy="218049"/>
          </a:xfrm>
          <a:prstGeom prst="chevron">
            <a:avLst/>
          </a:prstGeom>
          <a:solidFill>
            <a:srgbClr val="775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2" name="Flèche : chevron 41">
            <a:extLst>
              <a:ext uri="{FF2B5EF4-FFF2-40B4-BE49-F238E27FC236}">
                <a16:creationId xmlns:a16="http://schemas.microsoft.com/office/drawing/2014/main" id="{A9BF6712-38F4-E716-1786-7BB90B988C9D}"/>
              </a:ext>
            </a:extLst>
          </p:cNvPr>
          <p:cNvSpPr/>
          <p:nvPr/>
        </p:nvSpPr>
        <p:spPr>
          <a:xfrm>
            <a:off x="457200" y="3790891"/>
            <a:ext cx="175846" cy="218049"/>
          </a:xfrm>
          <a:prstGeom prst="chevron">
            <a:avLst/>
          </a:prstGeom>
          <a:solidFill>
            <a:srgbClr val="775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3" name="Flèche : chevron 42">
            <a:extLst>
              <a:ext uri="{FF2B5EF4-FFF2-40B4-BE49-F238E27FC236}">
                <a16:creationId xmlns:a16="http://schemas.microsoft.com/office/drawing/2014/main" id="{BA0DED90-828C-18B0-CA52-D901D9A09FD9}"/>
              </a:ext>
            </a:extLst>
          </p:cNvPr>
          <p:cNvSpPr/>
          <p:nvPr/>
        </p:nvSpPr>
        <p:spPr>
          <a:xfrm>
            <a:off x="457200" y="4283607"/>
            <a:ext cx="175846" cy="218049"/>
          </a:xfrm>
          <a:prstGeom prst="chevron">
            <a:avLst/>
          </a:prstGeom>
          <a:solidFill>
            <a:srgbClr val="775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2" name="LC">
            <a:extLst>
              <a:ext uri="{FF2B5EF4-FFF2-40B4-BE49-F238E27FC236}">
                <a16:creationId xmlns:a16="http://schemas.microsoft.com/office/drawing/2014/main" id="{911515B4-75D8-E1AC-C0B3-127343FF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3" name="LL">
            <a:extLst>
              <a:ext uri="{FF2B5EF4-FFF2-40B4-BE49-F238E27FC236}">
                <a16:creationId xmlns:a16="http://schemas.microsoft.com/office/drawing/2014/main" id="{907FDC79-F0B9-DD59-8E5E-8F92C1910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75" y="4777740"/>
            <a:ext cx="822960" cy="240030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E9F2785D-9731-BD39-6605-8913B635584F}"/>
              </a:ext>
            </a:extLst>
          </p:cNvPr>
          <p:cNvSpPr/>
          <p:nvPr/>
        </p:nvSpPr>
        <p:spPr>
          <a:xfrm>
            <a:off x="671732" y="9064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6C2AC0A-247A-7CE5-2EDF-9BA03304398F}"/>
              </a:ext>
            </a:extLst>
          </p:cNvPr>
          <p:cNvSpPr/>
          <p:nvPr/>
        </p:nvSpPr>
        <p:spPr>
          <a:xfrm>
            <a:off x="1311812" y="90646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CYNA — Le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3FDE3A1-5747-CFA9-1155-CBB920EED52E}"/>
              </a:ext>
            </a:extLst>
          </p:cNvPr>
          <p:cNvSpPr/>
          <p:nvPr/>
        </p:nvSpPr>
        <p:spPr>
          <a:xfrm>
            <a:off x="4877972" y="90646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de cybersécurité</a:t>
            </a:r>
          </a:p>
        </p:txBody>
      </p:sp>
      <p:sp>
        <p:nvSpPr>
          <p:cNvPr id="7" name="Flèche : chevron 6">
            <a:extLst>
              <a:ext uri="{FF2B5EF4-FFF2-40B4-BE49-F238E27FC236}">
                <a16:creationId xmlns:a16="http://schemas.microsoft.com/office/drawing/2014/main" id="{60FDC3E7-BC4B-A130-FE9C-48F36E284FA6}"/>
              </a:ext>
            </a:extLst>
          </p:cNvPr>
          <p:cNvSpPr/>
          <p:nvPr/>
        </p:nvSpPr>
        <p:spPr>
          <a:xfrm>
            <a:off x="457200" y="985245"/>
            <a:ext cx="175846" cy="218049"/>
          </a:xfrm>
          <a:prstGeom prst="chevron">
            <a:avLst/>
          </a:prstGeom>
          <a:solidFill>
            <a:srgbClr val="7750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12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YNA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PN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2 / 11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FFFFFF"/>
                </a:solidFill>
                <a:latin typeface="Trebuchet MS" pitchFamily="34" charset="0"/>
              </a:rPr>
              <a:t>CYNA — LE PROJET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dirty="0">
                <a:solidFill>
                  <a:srgbClr val="94A3B8"/>
                </a:solidFill>
                <a:latin typeface="Calibri" pitchFamily="34" charset="0"/>
              </a:rPr>
              <a:t>Entreprise de cybersécurité</a:t>
            </a:r>
          </a:p>
        </p:txBody>
      </p:sp>
      <p:sp>
        <p:nvSpPr>
          <p:cNvPr id="10" name="EntT"/>
          <p:cNvSpPr/>
          <p:nvPr/>
        </p:nvSpPr>
        <p:spPr>
          <a:xfrm>
            <a:off x="457200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dirty="0">
                <a:solidFill>
                  <a:srgbClr val="8B5CF6"/>
                </a:solidFill>
                <a:latin typeface="Trebuchet MS" pitchFamily="34" charset="0"/>
              </a:rPr>
              <a:t> L’entreprise</a:t>
            </a:r>
          </a:p>
        </p:txBody>
      </p:sp>
      <p:sp>
        <p:nvSpPr>
          <p:cNvPr id="11" name="EntB"/>
          <p:cNvSpPr/>
          <p:nvPr/>
        </p:nvSpPr>
        <p:spPr>
          <a:xfrm>
            <a:off x="457200" y="137160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fr-FR" sz="1200" dirty="0">
                <a:solidFill>
                  <a:srgbClr val="CBD5E1"/>
                </a:solidFill>
                <a:latin typeface="Calibri" pitchFamily="34" charset="0"/>
              </a:rPr>
              <a:t>CYNA est une entreprise spécialisée en cybersécurité qui commercialise des solutions destinées aux entreprises :</a:t>
            </a:r>
          </a:p>
          <a:p>
            <a:pPr marL="0" indent="0">
              <a:buNone/>
            </a:pPr>
            <a:endParaRPr lang="fr-FR" sz="600" dirty="0"/>
          </a:p>
          <a:p>
            <a:pPr marL="171450" indent="-171450">
              <a:buChar char="•"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SOC</a:t>
            </a:r>
            <a:r>
              <a:rPr lang="fr-FR" sz="1200" dirty="0">
                <a:solidFill>
                  <a:srgbClr val="CBD5E1"/>
                </a:solidFill>
                <a:latin typeface="Calibri" pitchFamily="34" charset="0"/>
              </a:rPr>
              <a:t> — Security Operations Center</a:t>
            </a:r>
          </a:p>
          <a:p>
            <a:pPr marL="171450" indent="-171450">
              <a:buChar char="•"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EDR</a:t>
            </a:r>
            <a:r>
              <a:rPr lang="fr-FR" sz="1200" dirty="0">
                <a:solidFill>
                  <a:srgbClr val="CBD5E1"/>
                </a:solidFill>
                <a:latin typeface="Calibri" pitchFamily="34" charset="0"/>
              </a:rPr>
              <a:t> — Endpoint Detection &amp; Response</a:t>
            </a:r>
          </a:p>
          <a:p>
            <a:pPr marL="171450" indent="-171450">
              <a:buChar char="•"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XDR</a:t>
            </a:r>
            <a:r>
              <a:rPr lang="fr-FR" sz="1200" dirty="0">
                <a:solidFill>
                  <a:srgbClr val="CBD5E1"/>
                </a:solidFill>
                <a:latin typeface="Calibri" pitchFamily="34" charset="0"/>
              </a:rPr>
              <a:t> — Extended Detection &amp; Response</a:t>
            </a:r>
          </a:p>
          <a:p>
            <a:pPr marL="0" indent="0">
              <a:buNone/>
            </a:pPr>
            <a:endParaRPr lang="fr-FR" sz="600" dirty="0"/>
          </a:p>
          <a:p>
            <a:pPr marL="0" indent="0">
              <a:buNone/>
            </a:pPr>
            <a:r>
              <a:rPr lang="fr-FR" sz="1200" dirty="0">
                <a:solidFill>
                  <a:srgbClr val="94A3B8"/>
                </a:solidFill>
                <a:latin typeface="Calibri" pitchFamily="34" charset="0"/>
              </a:rPr>
              <a:t>Aujourd’hui distribuées via un réseau traditionnel.</a:t>
            </a:r>
          </a:p>
        </p:txBody>
      </p:sp>
      <p:sp>
        <p:nvSpPr>
          <p:cNvPr id="20" name="MisT"/>
          <p:cNvSpPr/>
          <p:nvPr/>
        </p:nvSpPr>
        <p:spPr>
          <a:xfrm>
            <a:off x="4800600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dirty="0">
                <a:solidFill>
                  <a:srgbClr val="8B5CF6"/>
                </a:solidFill>
                <a:latin typeface="Trebuchet MS" pitchFamily="34" charset="0"/>
              </a:rPr>
              <a:t>Notre mission</a:t>
            </a:r>
          </a:p>
        </p:txBody>
      </p:sp>
      <p:sp>
        <p:nvSpPr>
          <p:cNvPr id="21" name="MisB"/>
          <p:cNvSpPr/>
          <p:nvPr/>
        </p:nvSpPr>
        <p:spPr>
          <a:xfrm>
            <a:off x="4800600" y="137160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fr-FR" sz="1200" dirty="0">
                <a:solidFill>
                  <a:srgbClr val="CBD5E1"/>
                </a:solidFill>
                <a:latin typeface="Calibri" pitchFamily="34" charset="0"/>
              </a:rPr>
              <a:t>Concevoir et développer une plateforme e-commerce SaaS pour permettre à CYNA de vendre ses solutions en ligne</a:t>
            </a:r>
          </a:p>
          <a:p>
            <a:pPr marL="0" indent="0">
              <a:buNone/>
            </a:pPr>
            <a:endParaRPr lang="fr-FR" sz="600" dirty="0"/>
          </a:p>
        </p:txBody>
      </p:sp>
      <p:sp>
        <p:nvSpPr>
          <p:cNvPr id="30" name="HLine"/>
          <p:cNvSpPr/>
          <p:nvPr/>
        </p:nvSpPr>
        <p:spPr>
          <a:xfrm>
            <a:off x="457200" y="2880360"/>
            <a:ext cx="8229600" cy="13716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AvCard"/>
          <p:cNvSpPr/>
          <p:nvPr/>
        </p:nvSpPr>
        <p:spPr>
          <a:xfrm>
            <a:off x="457200" y="3063240"/>
            <a:ext cx="3886200" cy="822960"/>
          </a:xfrm>
          <a:prstGeom prst="roundRect">
            <a:avLst>
              <a:gd name="adj" fmla="val 6000"/>
            </a:avLst>
          </a:prstGeom>
          <a:solidFill>
            <a:srgbClr val="161E35"/>
          </a:solidFill>
          <a:ln w="12700">
            <a:solidFill>
              <a:srgbClr val="64748B">
                <a:alpha val="4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1" name="AvTxt"/>
          <p:cNvSpPr/>
          <p:nvPr/>
        </p:nvSpPr>
        <p:spPr>
          <a:xfrm>
            <a:off x="594360" y="31089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fr-FR" sz="1200" b="1" dirty="0">
                <a:solidFill>
                  <a:srgbClr val="94A3B8"/>
                </a:solidFill>
                <a:latin typeface="Trebuchet MS" pitchFamily="34" charset="0"/>
              </a:rPr>
              <a:t>Avant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64748B"/>
                </a:solidFill>
                <a:latin typeface="Calibri" pitchFamily="34" charset="0"/>
              </a:rPr>
              <a:t>Distribution traditionnelle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64748B"/>
                </a:solidFill>
                <a:latin typeface="Calibri" pitchFamily="34" charset="0"/>
              </a:rPr>
              <a:t>Vente par réseau de partenaires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64748B"/>
                </a:solidFill>
                <a:latin typeface="Calibri" pitchFamily="34" charset="0"/>
              </a:rPr>
              <a:t>Pas de canal en ligne</a:t>
            </a:r>
          </a:p>
        </p:txBody>
      </p:sp>
      <p:sp>
        <p:nvSpPr>
          <p:cNvPr id="50" name="Arrow"/>
          <p:cNvSpPr/>
          <p:nvPr/>
        </p:nvSpPr>
        <p:spPr>
          <a:xfrm>
            <a:off x="4434840" y="3337560"/>
            <a:ext cx="274320" cy="27432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>
              <a:buNone/>
            </a:pPr>
            <a:r>
              <a:rPr lang="fr-FR" sz="1800" b="1" dirty="0">
                <a:solidFill>
                  <a:srgbClr val="8B5CF6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60" name="ApCard"/>
          <p:cNvSpPr/>
          <p:nvPr/>
        </p:nvSpPr>
        <p:spPr>
          <a:xfrm>
            <a:off x="4800600" y="3063240"/>
            <a:ext cx="3886200" cy="822960"/>
          </a:xfrm>
          <a:prstGeom prst="roundRect">
            <a:avLst>
              <a:gd name="adj" fmla="val 6000"/>
            </a:avLst>
          </a:prstGeom>
          <a:solidFill>
            <a:srgbClr val="161E35"/>
          </a:solidFill>
          <a:ln w="12700">
            <a:solidFill>
              <a:srgbClr val="8B5CF6">
                <a:alpha val="4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1" name="ApTxt"/>
          <p:cNvSpPr/>
          <p:nvPr/>
        </p:nvSpPr>
        <p:spPr>
          <a:xfrm>
            <a:off x="4937760" y="31089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fr-FR" sz="1200" b="1" dirty="0">
                <a:solidFill>
                  <a:srgbClr val="22C55E"/>
                </a:solidFill>
                <a:latin typeface="Trebuchet MS" pitchFamily="34" charset="0"/>
              </a:rPr>
              <a:t>Après (notre projet)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CBD5E1"/>
                </a:solidFill>
                <a:latin typeface="Calibri" pitchFamily="34" charset="0"/>
              </a:rPr>
              <a:t>Plateforme e-commerce SaaS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CBD5E1"/>
                </a:solidFill>
                <a:latin typeface="Calibri" pitchFamily="34" charset="0"/>
              </a:rPr>
              <a:t>Vente directe en ligne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CBD5E1"/>
                </a:solidFill>
                <a:latin typeface="Calibri" pitchFamily="34" charset="0"/>
              </a:rPr>
              <a:t>Catalogue + paiement + espace client</a:t>
            </a:r>
          </a:p>
        </p:txBody>
      </p:sp>
      <p:pic>
        <p:nvPicPr>
          <p:cNvPr id="250" name="L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251" name="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75" y="4777740"/>
            <a:ext cx="822960" cy="24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GOUVERNANCE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Équipe, rôles et périmètre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164592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0000" y="-500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3099" y="1290711"/>
            <a:ext cx="4114800" cy="164592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53099" y="1290711"/>
            <a:ext cx="41148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31" y="1391295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38899" y="1427871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&amp; Rôles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19" y="1811919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1739" y="1793631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273339" y="179363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19" y="2104527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1739" y="2086239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Ilane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2273339" y="2086239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19" y="2397135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1739" y="237884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2273339" y="237884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19" y="2689743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01739" y="2671455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2273339" y="2671455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353099" y="3184047"/>
            <a:ext cx="8412480" cy="13716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0"/>
          <p:cNvSpPr/>
          <p:nvPr/>
        </p:nvSpPr>
        <p:spPr>
          <a:xfrm>
            <a:off x="365760" y="3200400"/>
            <a:ext cx="841248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1"/>
          <p:cNvSpPr/>
          <p:nvPr/>
        </p:nvSpPr>
        <p:spPr>
          <a:xfrm>
            <a:off x="59436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périmètre : Architecture &amp; Back-end</a:t>
            </a:r>
            <a:endParaRPr lang="en-US" sz="14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94760"/>
            <a:ext cx="164592" cy="16459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3794760"/>
            <a:ext cx="164592" cy="1645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167128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</a:t>
            </a:r>
            <a:endParaRPr lang="en-US" sz="1100" dirty="0"/>
          </a:p>
        </p:txBody>
      </p:sp>
      <p:sp>
        <p:nvSpPr>
          <p:cNvPr id="35" name="Text 24"/>
          <p:cNvSpPr/>
          <p:nvPr/>
        </p:nvSpPr>
        <p:spPr>
          <a:xfrm>
            <a:off x="3538728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151" y="3794760"/>
            <a:ext cx="164592" cy="16459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3913632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167" y="3789397"/>
            <a:ext cx="164592" cy="16459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703746" y="37627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1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295" y="3787727"/>
            <a:ext cx="164592" cy="16459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962453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données</a:t>
            </a:r>
            <a:endParaRPr lang="en-US" sz="1100" dirty="0"/>
          </a:p>
        </p:txBody>
      </p:sp>
      <p:pic>
        <p:nvPicPr>
          <p:cNvPr id="43" name="Image 0" descr="/home/claude/logo_cyna.png">
            <a:extLst>
              <a:ext uri="{FF2B5EF4-FFF2-40B4-BE49-F238E27FC236}">
                <a16:creationId xmlns:a16="http://schemas.microsoft.com/office/drawing/2014/main" id="{1A72B3F5-5278-D2FA-28FF-56CB549C2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44" name="Image 1" descr="/home/claude/logo_limayrac.png">
            <a:extLst>
              <a:ext uri="{FF2B5EF4-FFF2-40B4-BE49-F238E27FC236}">
                <a16:creationId xmlns:a16="http://schemas.microsoft.com/office/drawing/2014/main" id="{E97510FD-8118-A740-DED5-11DF0284B0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575" y="4777740"/>
            <a:ext cx="822960" cy="240030"/>
          </a:xfrm>
          <a:prstGeom prst="rect">
            <a:avLst/>
          </a:prstGeom>
        </p:spPr>
      </p:pic>
      <p:sp>
        <p:nvSpPr>
          <p:cNvPr id="42" name="Shape 15">
            <a:extLst>
              <a:ext uri="{FF2B5EF4-FFF2-40B4-BE49-F238E27FC236}">
                <a16:creationId xmlns:a16="http://schemas.microsoft.com/office/drawing/2014/main" id="{57D4B0E7-5808-A5EB-5137-341BF51827F6}"/>
              </a:ext>
            </a:extLst>
          </p:cNvPr>
          <p:cNvSpPr/>
          <p:nvPr/>
        </p:nvSpPr>
        <p:spPr>
          <a:xfrm>
            <a:off x="6245352" y="1305834"/>
            <a:ext cx="1828800" cy="64008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E45688A1-D821-A7C5-B234-3538A1C26FB6}"/>
              </a:ext>
            </a:extLst>
          </p:cNvPr>
          <p:cNvSpPr/>
          <p:nvPr/>
        </p:nvSpPr>
        <p:spPr>
          <a:xfrm>
            <a:off x="6245352" y="1275237"/>
            <a:ext cx="18288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0C6AB892-2E5A-8F36-0617-7670D18DE599}"/>
              </a:ext>
            </a:extLst>
          </p:cNvPr>
          <p:cNvSpPr/>
          <p:nvPr/>
        </p:nvSpPr>
        <p:spPr>
          <a:xfrm>
            <a:off x="6245352" y="1330101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4C16E158-F482-C145-45CC-988FDDE23B88}"/>
              </a:ext>
            </a:extLst>
          </p:cNvPr>
          <p:cNvSpPr/>
          <p:nvPr/>
        </p:nvSpPr>
        <p:spPr>
          <a:xfrm flipH="1">
            <a:off x="7004304" y="1344696"/>
            <a:ext cx="1161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</a:t>
            </a:r>
            <a:endParaRPr lang="en-US" sz="1050" dirty="0"/>
          </a:p>
        </p:txBody>
      </p:sp>
      <p:sp>
        <p:nvSpPr>
          <p:cNvPr id="48" name="Shape 27">
            <a:extLst>
              <a:ext uri="{FF2B5EF4-FFF2-40B4-BE49-F238E27FC236}">
                <a16:creationId xmlns:a16="http://schemas.microsoft.com/office/drawing/2014/main" id="{7A38CD1A-F70E-31EC-F42D-F6E99F188FDD}"/>
              </a:ext>
            </a:extLst>
          </p:cNvPr>
          <p:cNvSpPr/>
          <p:nvPr/>
        </p:nvSpPr>
        <p:spPr>
          <a:xfrm>
            <a:off x="6258013" y="2256282"/>
            <a:ext cx="1828800" cy="64008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28">
            <a:extLst>
              <a:ext uri="{FF2B5EF4-FFF2-40B4-BE49-F238E27FC236}">
                <a16:creationId xmlns:a16="http://schemas.microsoft.com/office/drawing/2014/main" id="{DB6DE930-8E11-87FB-3990-472358C53392}"/>
              </a:ext>
            </a:extLst>
          </p:cNvPr>
          <p:cNvSpPr/>
          <p:nvPr/>
        </p:nvSpPr>
        <p:spPr>
          <a:xfrm>
            <a:off x="6258013" y="2256282"/>
            <a:ext cx="18288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174BB0A2-4207-71DE-E2E7-C910EA182815}"/>
              </a:ext>
            </a:extLst>
          </p:cNvPr>
          <p:cNvSpPr/>
          <p:nvPr/>
        </p:nvSpPr>
        <p:spPr>
          <a:xfrm>
            <a:off x="6258013" y="227457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~450</a:t>
            </a:r>
            <a:endParaRPr lang="en-US" sz="2400" dirty="0"/>
          </a:p>
        </p:txBody>
      </p:sp>
      <p:sp>
        <p:nvSpPr>
          <p:cNvPr id="51" name="Text 30">
            <a:extLst>
              <a:ext uri="{FF2B5EF4-FFF2-40B4-BE49-F238E27FC236}">
                <a16:creationId xmlns:a16="http://schemas.microsoft.com/office/drawing/2014/main" id="{698DED6F-1CA6-636F-AF16-A16279C8C46B}"/>
              </a:ext>
            </a:extLst>
          </p:cNvPr>
          <p:cNvSpPr/>
          <p:nvPr/>
        </p:nvSpPr>
        <p:spPr>
          <a:xfrm>
            <a:off x="7172413" y="229496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équipe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nning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opBar">
            <a:extLst>
              <a:ext uri="{FF2B5EF4-FFF2-40B4-BE49-F238E27FC236}">
                <a16:creationId xmlns:a16="http://schemas.microsoft.com/office/drawing/2014/main" id="{CC9496F4-A625-2808-7E38-91F7655BBEE1}"/>
              </a:ext>
            </a:extLst>
          </p:cNvPr>
          <p:cNvSpPr/>
          <p:nvPr/>
        </p:nvSpPr>
        <p:spPr>
          <a:xfrm>
            <a:off x="0" y="-6506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96" name="PN">
            <a:extLst>
              <a:ext uri="{FF2B5EF4-FFF2-40B4-BE49-F238E27FC236}">
                <a16:creationId xmlns:a16="http://schemas.microsoft.com/office/drawing/2014/main" id="{2A9D67CC-47A5-1AB7-CDC2-F8989915A414}"/>
              </a:ext>
            </a:extLst>
          </p:cNvPr>
          <p:cNvSpPr/>
          <p:nvPr/>
        </p:nvSpPr>
        <p:spPr>
          <a:xfrm>
            <a:off x="7772400" y="481203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3 / 12</a:t>
            </a:r>
          </a:p>
        </p:txBody>
      </p:sp>
      <p:sp>
        <p:nvSpPr>
          <p:cNvPr id="197" name="Title">
            <a:extLst>
              <a:ext uri="{FF2B5EF4-FFF2-40B4-BE49-F238E27FC236}">
                <a16:creationId xmlns:a16="http://schemas.microsoft.com/office/drawing/2014/main" id="{E0E5B488-C307-1945-727D-243E931FB322}"/>
              </a:ext>
            </a:extLst>
          </p:cNvPr>
          <p:cNvSpPr/>
          <p:nvPr/>
        </p:nvSpPr>
        <p:spPr>
          <a:xfrm>
            <a:off x="457200" y="28575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800" b="1" dirty="0">
                <a:solidFill>
                  <a:srgbClr val="FFFFFF"/>
                </a:solidFill>
                <a:latin typeface="Trebuchet MS" pitchFamily="34" charset="0"/>
              </a:rPr>
              <a:t>PLANNING &amp; ORGANISATION</a:t>
            </a:r>
          </a:p>
        </p:txBody>
      </p:sp>
      <p:sp>
        <p:nvSpPr>
          <p:cNvPr id="198" name="Sub">
            <a:extLst>
              <a:ext uri="{FF2B5EF4-FFF2-40B4-BE49-F238E27FC236}">
                <a16:creationId xmlns:a16="http://schemas.microsoft.com/office/drawing/2014/main" id="{E53DBC30-9FFE-100F-52C8-BC36A1102BD1}"/>
              </a:ext>
            </a:extLst>
          </p:cNvPr>
          <p:cNvSpPr/>
          <p:nvPr/>
        </p:nvSpPr>
        <p:spPr>
          <a:xfrm>
            <a:off x="457200" y="69723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300" dirty="0">
                <a:solidFill>
                  <a:srgbClr val="94A3B8"/>
                </a:solidFill>
                <a:latin typeface="Calibri" pitchFamily="34" charset="0"/>
              </a:rPr>
              <a:t>8 mois · 3 jalons · Méthode Agile · ~450h équipe</a:t>
            </a:r>
          </a:p>
        </p:txBody>
      </p:sp>
      <p:sp>
        <p:nvSpPr>
          <p:cNvPr id="199" name="MJan">
            <a:extLst>
              <a:ext uri="{FF2B5EF4-FFF2-40B4-BE49-F238E27FC236}">
                <a16:creationId xmlns:a16="http://schemas.microsoft.com/office/drawing/2014/main" id="{A5329867-5AB3-66BB-81FD-FEEF85542895}"/>
              </a:ext>
            </a:extLst>
          </p:cNvPr>
          <p:cNvSpPr/>
          <p:nvPr/>
        </p:nvSpPr>
        <p:spPr>
          <a:xfrm>
            <a:off x="1371600" y="1062990"/>
            <a:ext cx="522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fr-FR" sz="900" b="1" dirty="0">
                <a:solidFill>
                  <a:srgbClr val="64748B"/>
                </a:solidFill>
                <a:latin typeface="Calibri" pitchFamily="34" charset="0"/>
              </a:rPr>
              <a:t>JAN</a:t>
            </a:r>
          </a:p>
        </p:txBody>
      </p:sp>
      <p:sp>
        <p:nvSpPr>
          <p:cNvPr id="201" name="MFev">
            <a:extLst>
              <a:ext uri="{FF2B5EF4-FFF2-40B4-BE49-F238E27FC236}">
                <a16:creationId xmlns:a16="http://schemas.microsoft.com/office/drawing/2014/main" id="{EE209AE6-FAE2-326B-CC35-F83C690CFE9C}"/>
              </a:ext>
            </a:extLst>
          </p:cNvPr>
          <p:cNvSpPr/>
          <p:nvPr/>
        </p:nvSpPr>
        <p:spPr>
          <a:xfrm>
            <a:off x="1894114" y="1062990"/>
            <a:ext cx="522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fr-FR" sz="900" b="1" dirty="0">
                <a:solidFill>
                  <a:srgbClr val="64748B"/>
                </a:solidFill>
                <a:latin typeface="Calibri" pitchFamily="34" charset="0"/>
              </a:rPr>
              <a:t>FÉV</a:t>
            </a:r>
          </a:p>
        </p:txBody>
      </p:sp>
      <p:sp>
        <p:nvSpPr>
          <p:cNvPr id="202" name="MMar">
            <a:extLst>
              <a:ext uri="{FF2B5EF4-FFF2-40B4-BE49-F238E27FC236}">
                <a16:creationId xmlns:a16="http://schemas.microsoft.com/office/drawing/2014/main" id="{64B31951-D52F-60A3-7C4C-1CFAA6637A87}"/>
              </a:ext>
            </a:extLst>
          </p:cNvPr>
          <p:cNvSpPr/>
          <p:nvPr/>
        </p:nvSpPr>
        <p:spPr>
          <a:xfrm>
            <a:off x="2416628" y="1062990"/>
            <a:ext cx="522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fr-FR" sz="900" b="1" dirty="0">
                <a:solidFill>
                  <a:srgbClr val="64748B"/>
                </a:solidFill>
                <a:latin typeface="Calibri" pitchFamily="34" charset="0"/>
              </a:rPr>
              <a:t>MAR</a:t>
            </a:r>
          </a:p>
        </p:txBody>
      </p:sp>
      <p:sp>
        <p:nvSpPr>
          <p:cNvPr id="203" name="MAvr">
            <a:extLst>
              <a:ext uri="{FF2B5EF4-FFF2-40B4-BE49-F238E27FC236}">
                <a16:creationId xmlns:a16="http://schemas.microsoft.com/office/drawing/2014/main" id="{7F592548-C045-69E4-999E-D1159F269950}"/>
              </a:ext>
            </a:extLst>
          </p:cNvPr>
          <p:cNvSpPr/>
          <p:nvPr/>
        </p:nvSpPr>
        <p:spPr>
          <a:xfrm>
            <a:off x="2939142" y="1062990"/>
            <a:ext cx="522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fr-FR" sz="900" b="1" dirty="0">
                <a:solidFill>
                  <a:srgbClr val="64748B"/>
                </a:solidFill>
                <a:latin typeface="Calibri" pitchFamily="34" charset="0"/>
              </a:rPr>
              <a:t>AVR</a:t>
            </a:r>
          </a:p>
        </p:txBody>
      </p:sp>
      <p:sp>
        <p:nvSpPr>
          <p:cNvPr id="204" name="MMai">
            <a:extLst>
              <a:ext uri="{FF2B5EF4-FFF2-40B4-BE49-F238E27FC236}">
                <a16:creationId xmlns:a16="http://schemas.microsoft.com/office/drawing/2014/main" id="{D4293D48-55DA-C1AA-37DB-9791899206F2}"/>
              </a:ext>
            </a:extLst>
          </p:cNvPr>
          <p:cNvSpPr/>
          <p:nvPr/>
        </p:nvSpPr>
        <p:spPr>
          <a:xfrm>
            <a:off x="3461656" y="1062990"/>
            <a:ext cx="522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fr-FR" sz="900" b="1" dirty="0">
                <a:solidFill>
                  <a:srgbClr val="64748B"/>
                </a:solidFill>
                <a:latin typeface="Calibri" pitchFamily="34" charset="0"/>
              </a:rPr>
              <a:t>MAI</a:t>
            </a:r>
          </a:p>
        </p:txBody>
      </p:sp>
      <p:sp>
        <p:nvSpPr>
          <p:cNvPr id="205" name="MJun">
            <a:extLst>
              <a:ext uri="{FF2B5EF4-FFF2-40B4-BE49-F238E27FC236}">
                <a16:creationId xmlns:a16="http://schemas.microsoft.com/office/drawing/2014/main" id="{62F25983-6209-B717-F80F-652A1F374008}"/>
              </a:ext>
            </a:extLst>
          </p:cNvPr>
          <p:cNvSpPr/>
          <p:nvPr/>
        </p:nvSpPr>
        <p:spPr>
          <a:xfrm>
            <a:off x="3984170" y="1062990"/>
            <a:ext cx="522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fr-FR" sz="900" b="1" dirty="0">
                <a:solidFill>
                  <a:srgbClr val="64748B"/>
                </a:solidFill>
                <a:latin typeface="Calibri" pitchFamily="34" charset="0"/>
              </a:rPr>
              <a:t>JUN</a:t>
            </a:r>
          </a:p>
        </p:txBody>
      </p:sp>
      <p:sp>
        <p:nvSpPr>
          <p:cNvPr id="206" name="MJul">
            <a:extLst>
              <a:ext uri="{FF2B5EF4-FFF2-40B4-BE49-F238E27FC236}">
                <a16:creationId xmlns:a16="http://schemas.microsoft.com/office/drawing/2014/main" id="{7FC12E68-2B07-A880-B43C-E0E1DCA29BB1}"/>
              </a:ext>
            </a:extLst>
          </p:cNvPr>
          <p:cNvSpPr/>
          <p:nvPr/>
        </p:nvSpPr>
        <p:spPr>
          <a:xfrm>
            <a:off x="4506684" y="1062990"/>
            <a:ext cx="522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fr-FR" sz="900" b="1" dirty="0">
                <a:solidFill>
                  <a:srgbClr val="64748B"/>
                </a:solidFill>
                <a:latin typeface="Calibri" pitchFamily="34" charset="0"/>
              </a:rPr>
              <a:t>JUL</a:t>
            </a:r>
          </a:p>
        </p:txBody>
      </p:sp>
      <p:sp>
        <p:nvSpPr>
          <p:cNvPr id="207" name="Axis">
            <a:extLst>
              <a:ext uri="{FF2B5EF4-FFF2-40B4-BE49-F238E27FC236}">
                <a16:creationId xmlns:a16="http://schemas.microsoft.com/office/drawing/2014/main" id="{4720F0CB-57EF-A6B9-B962-4C29FC54C7FE}"/>
              </a:ext>
            </a:extLst>
          </p:cNvPr>
          <p:cNvSpPr/>
          <p:nvPr/>
        </p:nvSpPr>
        <p:spPr>
          <a:xfrm>
            <a:off x="1371600" y="1291590"/>
            <a:ext cx="3657600" cy="1371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08" name="L1">
            <a:extLst>
              <a:ext uri="{FF2B5EF4-FFF2-40B4-BE49-F238E27FC236}">
                <a16:creationId xmlns:a16="http://schemas.microsoft.com/office/drawing/2014/main" id="{DB8B595A-CC2D-4036-F380-EAA3EE681CD1}"/>
              </a:ext>
            </a:extLst>
          </p:cNvPr>
          <p:cNvSpPr/>
          <p:nvPr/>
        </p:nvSpPr>
        <p:spPr>
          <a:xfrm>
            <a:off x="457200" y="142875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buNone/>
            </a:pPr>
            <a:r>
              <a:rPr lang="fr-FR" sz="1100" b="1" dirty="0">
                <a:solidFill>
                  <a:srgbClr val="3B7DD8"/>
                </a:solidFill>
                <a:latin typeface="Calibri" pitchFamily="34" charset="0"/>
              </a:rPr>
              <a:t>Cadrage</a:t>
            </a:r>
          </a:p>
        </p:txBody>
      </p:sp>
      <p:sp>
        <p:nvSpPr>
          <p:cNvPr id="209" name="L2">
            <a:extLst>
              <a:ext uri="{FF2B5EF4-FFF2-40B4-BE49-F238E27FC236}">
                <a16:creationId xmlns:a16="http://schemas.microsoft.com/office/drawing/2014/main" id="{45AFDCDF-17C0-7F76-27A6-36FEDF3E94E7}"/>
              </a:ext>
            </a:extLst>
          </p:cNvPr>
          <p:cNvSpPr/>
          <p:nvPr/>
        </p:nvSpPr>
        <p:spPr>
          <a:xfrm>
            <a:off x="457200" y="188595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buNone/>
            </a:pPr>
            <a:r>
              <a:rPr lang="fr-FR" sz="1100" b="1" dirty="0">
                <a:solidFill>
                  <a:srgbClr val="14A3A0"/>
                </a:solidFill>
                <a:latin typeface="Calibri" pitchFamily="34" charset="0"/>
              </a:rPr>
              <a:t>MVP</a:t>
            </a:r>
          </a:p>
        </p:txBody>
      </p:sp>
      <p:sp>
        <p:nvSpPr>
          <p:cNvPr id="210" name="L3">
            <a:extLst>
              <a:ext uri="{FF2B5EF4-FFF2-40B4-BE49-F238E27FC236}">
                <a16:creationId xmlns:a16="http://schemas.microsoft.com/office/drawing/2014/main" id="{4F1E2D67-F7AE-B751-3BDA-E27DBB0E3D70}"/>
              </a:ext>
            </a:extLst>
          </p:cNvPr>
          <p:cNvSpPr/>
          <p:nvPr/>
        </p:nvSpPr>
        <p:spPr>
          <a:xfrm>
            <a:off x="457200" y="234315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buNone/>
            </a:pPr>
            <a:r>
              <a:rPr lang="fr-FR" sz="1100" b="1" dirty="0">
                <a:solidFill>
                  <a:srgbClr val="7C3FBE"/>
                </a:solidFill>
                <a:latin typeface="Calibri" pitchFamily="34" charset="0"/>
              </a:rPr>
              <a:t>Finalisation</a:t>
            </a:r>
          </a:p>
        </p:txBody>
      </p:sp>
      <p:sp>
        <p:nvSpPr>
          <p:cNvPr id="211" name="Bar1">
            <a:extLst>
              <a:ext uri="{FF2B5EF4-FFF2-40B4-BE49-F238E27FC236}">
                <a16:creationId xmlns:a16="http://schemas.microsoft.com/office/drawing/2014/main" id="{B530DB80-CAD1-927D-9E55-EAE97CA1FA7A}"/>
              </a:ext>
            </a:extLst>
          </p:cNvPr>
          <p:cNvSpPr/>
          <p:nvPr/>
        </p:nvSpPr>
        <p:spPr>
          <a:xfrm>
            <a:off x="1371600" y="1451610"/>
            <a:ext cx="1045028" cy="320040"/>
          </a:xfrm>
          <a:prstGeom prst="roundRect">
            <a:avLst>
              <a:gd name="adj" fmla="val 25000"/>
            </a:avLst>
          </a:prstGeom>
          <a:solidFill>
            <a:srgbClr val="3B7DD8"/>
          </a:solidFill>
          <a:ln/>
        </p:spPr>
        <p:txBody>
          <a:bodyPr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fr-FR" sz="900" b="1" dirty="0">
                <a:solidFill>
                  <a:srgbClr val="FFFFFF"/>
                </a:solidFill>
                <a:latin typeface="Calibri" pitchFamily="34" charset="0"/>
              </a:rPr>
              <a:t>Bloc 1</a:t>
            </a:r>
          </a:p>
        </p:txBody>
      </p:sp>
      <p:sp>
        <p:nvSpPr>
          <p:cNvPr id="212" name="J1">
            <a:extLst>
              <a:ext uri="{FF2B5EF4-FFF2-40B4-BE49-F238E27FC236}">
                <a16:creationId xmlns:a16="http://schemas.microsoft.com/office/drawing/2014/main" id="{215637B2-4BD4-A8C2-525F-F1D34C003109}"/>
              </a:ext>
            </a:extLst>
          </p:cNvPr>
          <p:cNvSpPr/>
          <p:nvPr/>
        </p:nvSpPr>
        <p:spPr>
          <a:xfrm>
            <a:off x="2462530" y="1543050"/>
            <a:ext cx="137160" cy="137160"/>
          </a:xfrm>
          <a:prstGeom prst="diamond">
            <a:avLst/>
          </a:prstGeom>
          <a:solidFill>
            <a:srgbClr val="F59E0B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13" name="J1L">
            <a:extLst>
              <a:ext uri="{FF2B5EF4-FFF2-40B4-BE49-F238E27FC236}">
                <a16:creationId xmlns:a16="http://schemas.microsoft.com/office/drawing/2014/main" id="{79798F0E-8565-B1B9-0914-790BB9F14115}"/>
              </a:ext>
            </a:extLst>
          </p:cNvPr>
          <p:cNvSpPr/>
          <p:nvPr/>
        </p:nvSpPr>
        <p:spPr>
          <a:xfrm>
            <a:off x="2621280" y="152019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800" b="1" dirty="0">
                <a:solidFill>
                  <a:srgbClr val="F59E0B"/>
                </a:solidFill>
                <a:latin typeface="Calibri" pitchFamily="34" charset="0"/>
              </a:rPr>
              <a:t>20/02</a:t>
            </a:r>
          </a:p>
        </p:txBody>
      </p:sp>
      <p:sp>
        <p:nvSpPr>
          <p:cNvPr id="214" name="Bar2">
            <a:extLst>
              <a:ext uri="{FF2B5EF4-FFF2-40B4-BE49-F238E27FC236}">
                <a16:creationId xmlns:a16="http://schemas.microsoft.com/office/drawing/2014/main" id="{2215791B-F1D9-BD93-7308-5FEC39E442D4}"/>
              </a:ext>
            </a:extLst>
          </p:cNvPr>
          <p:cNvSpPr/>
          <p:nvPr/>
        </p:nvSpPr>
        <p:spPr>
          <a:xfrm>
            <a:off x="2416628" y="1908810"/>
            <a:ext cx="1045028" cy="320040"/>
          </a:xfrm>
          <a:prstGeom prst="roundRect">
            <a:avLst>
              <a:gd name="adj" fmla="val 25000"/>
            </a:avLst>
          </a:prstGeom>
          <a:solidFill>
            <a:srgbClr val="14A3A0"/>
          </a:solidFill>
          <a:ln/>
        </p:spPr>
        <p:txBody>
          <a:bodyPr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fr-FR" sz="900" b="1" dirty="0">
                <a:solidFill>
                  <a:srgbClr val="FFFFFF"/>
                </a:solidFill>
                <a:latin typeface="Calibri" pitchFamily="34" charset="0"/>
              </a:rPr>
              <a:t>Bloc 2</a:t>
            </a:r>
          </a:p>
        </p:txBody>
      </p:sp>
      <p:sp>
        <p:nvSpPr>
          <p:cNvPr id="215" name="J2">
            <a:extLst>
              <a:ext uri="{FF2B5EF4-FFF2-40B4-BE49-F238E27FC236}">
                <a16:creationId xmlns:a16="http://schemas.microsoft.com/office/drawing/2014/main" id="{10761E4C-A2D3-CA5E-8F72-C44B8EA15833}"/>
              </a:ext>
            </a:extLst>
          </p:cNvPr>
          <p:cNvSpPr/>
          <p:nvPr/>
        </p:nvSpPr>
        <p:spPr>
          <a:xfrm>
            <a:off x="3507558" y="2000250"/>
            <a:ext cx="137160" cy="137160"/>
          </a:xfrm>
          <a:prstGeom prst="diamond">
            <a:avLst/>
          </a:prstGeom>
          <a:solidFill>
            <a:srgbClr val="F59E0B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16" name="J2L">
            <a:extLst>
              <a:ext uri="{FF2B5EF4-FFF2-40B4-BE49-F238E27FC236}">
                <a16:creationId xmlns:a16="http://schemas.microsoft.com/office/drawing/2014/main" id="{3845DCDA-F206-3CC1-CC42-48A8559A4C32}"/>
              </a:ext>
            </a:extLst>
          </p:cNvPr>
          <p:cNvSpPr/>
          <p:nvPr/>
        </p:nvSpPr>
        <p:spPr>
          <a:xfrm>
            <a:off x="3666308" y="197739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800" b="1" dirty="0">
                <a:solidFill>
                  <a:srgbClr val="F59E0B"/>
                </a:solidFill>
                <a:latin typeface="Calibri" pitchFamily="34" charset="0"/>
              </a:rPr>
              <a:t>21/04</a:t>
            </a:r>
          </a:p>
        </p:txBody>
      </p:sp>
      <p:sp>
        <p:nvSpPr>
          <p:cNvPr id="217" name="Bar3">
            <a:extLst>
              <a:ext uri="{FF2B5EF4-FFF2-40B4-BE49-F238E27FC236}">
                <a16:creationId xmlns:a16="http://schemas.microsoft.com/office/drawing/2014/main" id="{E2F9541E-61C3-3D40-C85E-CF999C7CEF19}"/>
              </a:ext>
            </a:extLst>
          </p:cNvPr>
          <p:cNvSpPr/>
          <p:nvPr/>
        </p:nvSpPr>
        <p:spPr>
          <a:xfrm>
            <a:off x="3461656" y="2366010"/>
            <a:ext cx="1567542" cy="320040"/>
          </a:xfrm>
          <a:prstGeom prst="roundRect">
            <a:avLst>
              <a:gd name="adj" fmla="val 25000"/>
            </a:avLst>
          </a:prstGeom>
          <a:solidFill>
            <a:srgbClr val="7C3FBE"/>
          </a:solidFill>
          <a:ln/>
        </p:spPr>
        <p:txBody>
          <a:bodyPr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fr-FR" sz="900" b="1" dirty="0">
                <a:solidFill>
                  <a:srgbClr val="FFFFFF"/>
                </a:solidFill>
                <a:latin typeface="Calibri" pitchFamily="34" charset="0"/>
              </a:rPr>
              <a:t>Bloc 3</a:t>
            </a:r>
          </a:p>
        </p:txBody>
      </p:sp>
      <p:sp>
        <p:nvSpPr>
          <p:cNvPr id="218" name="J3">
            <a:extLst>
              <a:ext uri="{FF2B5EF4-FFF2-40B4-BE49-F238E27FC236}">
                <a16:creationId xmlns:a16="http://schemas.microsoft.com/office/drawing/2014/main" id="{76F89EA0-6C45-F504-21B1-9762C711F2F7}"/>
              </a:ext>
            </a:extLst>
          </p:cNvPr>
          <p:cNvSpPr/>
          <p:nvPr/>
        </p:nvSpPr>
        <p:spPr>
          <a:xfrm>
            <a:off x="5075100" y="2457450"/>
            <a:ext cx="137160" cy="137160"/>
          </a:xfrm>
          <a:prstGeom prst="diamond">
            <a:avLst/>
          </a:prstGeom>
          <a:solidFill>
            <a:srgbClr val="F59E0B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19" name="J3L">
            <a:extLst>
              <a:ext uri="{FF2B5EF4-FFF2-40B4-BE49-F238E27FC236}">
                <a16:creationId xmlns:a16="http://schemas.microsoft.com/office/drawing/2014/main" id="{C3F496C1-E73A-DFD1-F41B-DBD5A2366DF8}"/>
              </a:ext>
            </a:extLst>
          </p:cNvPr>
          <p:cNvSpPr/>
          <p:nvPr/>
        </p:nvSpPr>
        <p:spPr>
          <a:xfrm>
            <a:off x="5233850" y="243459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800" b="1" dirty="0">
                <a:solidFill>
                  <a:srgbClr val="F59E0B"/>
                </a:solidFill>
                <a:latin typeface="Calibri" pitchFamily="34" charset="0"/>
              </a:rPr>
              <a:t>16/07</a:t>
            </a:r>
          </a:p>
        </p:txBody>
      </p:sp>
      <p:sp>
        <p:nvSpPr>
          <p:cNvPr id="220" name="Leg">
            <a:extLst>
              <a:ext uri="{FF2B5EF4-FFF2-40B4-BE49-F238E27FC236}">
                <a16:creationId xmlns:a16="http://schemas.microsoft.com/office/drawing/2014/main" id="{99B50970-B891-60E4-DA96-F2400F24EFA3}"/>
              </a:ext>
            </a:extLst>
          </p:cNvPr>
          <p:cNvSpPr/>
          <p:nvPr/>
        </p:nvSpPr>
        <p:spPr>
          <a:xfrm>
            <a:off x="457200" y="280035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900" dirty="0">
                <a:solidFill>
                  <a:srgbClr val="F59E0B"/>
                </a:solidFill>
                <a:latin typeface="Calibri" pitchFamily="34" charset="0"/>
              </a:rPr>
              <a:t>◆ = Jury</a:t>
            </a:r>
          </a:p>
        </p:txBody>
      </p:sp>
      <p:sp>
        <p:nvSpPr>
          <p:cNvPr id="221" name="D1">
            <a:extLst>
              <a:ext uri="{FF2B5EF4-FFF2-40B4-BE49-F238E27FC236}">
                <a16:creationId xmlns:a16="http://schemas.microsoft.com/office/drawing/2014/main" id="{05491016-01F0-84B8-00A1-C1A48077A043}"/>
              </a:ext>
            </a:extLst>
          </p:cNvPr>
          <p:cNvSpPr/>
          <p:nvPr/>
        </p:nvSpPr>
        <p:spPr>
          <a:xfrm>
            <a:off x="457200" y="312039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050" b="1" dirty="0">
                <a:solidFill>
                  <a:srgbClr val="3B7DD8"/>
                </a:solidFill>
                <a:latin typeface="Calibri" pitchFamily="34" charset="0"/>
              </a:rPr>
              <a:t>Bloc 1 : </a:t>
            </a:r>
            <a:r>
              <a:rPr lang="fr-FR" sz="1050" dirty="0">
                <a:solidFill>
                  <a:srgbClr val="CBD5E1"/>
                </a:solidFill>
                <a:latin typeface="Calibri" pitchFamily="34" charset="0"/>
              </a:rPr>
              <a:t>Note de cadrage · DCT v1 · Maquettes Figma · MCD/MLD</a:t>
            </a:r>
          </a:p>
        </p:txBody>
      </p:sp>
      <p:sp>
        <p:nvSpPr>
          <p:cNvPr id="222" name="D2">
            <a:extLst>
              <a:ext uri="{FF2B5EF4-FFF2-40B4-BE49-F238E27FC236}">
                <a16:creationId xmlns:a16="http://schemas.microsoft.com/office/drawing/2014/main" id="{2D788551-1D60-26B9-D833-223500E53E4E}"/>
              </a:ext>
            </a:extLst>
          </p:cNvPr>
          <p:cNvSpPr/>
          <p:nvPr/>
        </p:nvSpPr>
        <p:spPr>
          <a:xfrm>
            <a:off x="457200" y="339471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050" b="1" dirty="0">
                <a:solidFill>
                  <a:srgbClr val="14A3A0"/>
                </a:solidFill>
                <a:latin typeface="Calibri" pitchFamily="34" charset="0"/>
              </a:rPr>
              <a:t>Bloc 2 : </a:t>
            </a:r>
            <a:r>
              <a:rPr lang="fr-FR" sz="1050" dirty="0">
                <a:solidFill>
                  <a:srgbClr val="CBD5E1"/>
                </a:solidFill>
                <a:latin typeface="Calibri" pitchFamily="34" charset="0"/>
              </a:rPr>
              <a:t>MVP · Auth + Catalogue + Panier · Stripe · Doc API</a:t>
            </a:r>
          </a:p>
        </p:txBody>
      </p:sp>
      <p:sp>
        <p:nvSpPr>
          <p:cNvPr id="223" name="D3">
            <a:extLst>
              <a:ext uri="{FF2B5EF4-FFF2-40B4-BE49-F238E27FC236}">
                <a16:creationId xmlns:a16="http://schemas.microsoft.com/office/drawing/2014/main" id="{7FC368CD-895A-72C1-DAE4-13117480F34A}"/>
              </a:ext>
            </a:extLst>
          </p:cNvPr>
          <p:cNvSpPr/>
          <p:nvPr/>
        </p:nvSpPr>
        <p:spPr>
          <a:xfrm>
            <a:off x="457200" y="366903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050" b="1" dirty="0">
                <a:solidFill>
                  <a:srgbClr val="7C3FBE"/>
                </a:solidFill>
                <a:latin typeface="Calibri" pitchFamily="34" charset="0"/>
              </a:rPr>
              <a:t>Bloc 3 : </a:t>
            </a:r>
            <a:r>
              <a:rPr lang="fr-FR" sz="1050" dirty="0">
                <a:solidFill>
                  <a:srgbClr val="CBD5E1"/>
                </a:solidFill>
                <a:latin typeface="Calibri" pitchFamily="34" charset="0"/>
              </a:rPr>
              <a:t>Features avancées · Tests sécurité · Doc finale · Démo</a:t>
            </a:r>
          </a:p>
        </p:txBody>
      </p:sp>
      <p:sp>
        <p:nvSpPr>
          <p:cNvPr id="224" name="Sep">
            <a:extLst>
              <a:ext uri="{FF2B5EF4-FFF2-40B4-BE49-F238E27FC236}">
                <a16:creationId xmlns:a16="http://schemas.microsoft.com/office/drawing/2014/main" id="{66A583A7-4F47-374F-B842-6C5D5E5C0A3C}"/>
              </a:ext>
            </a:extLst>
          </p:cNvPr>
          <p:cNvSpPr/>
          <p:nvPr/>
        </p:nvSpPr>
        <p:spPr>
          <a:xfrm>
            <a:off x="5486400" y="1017270"/>
            <a:ext cx="18288" cy="352044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25" name="OT">
            <a:extLst>
              <a:ext uri="{FF2B5EF4-FFF2-40B4-BE49-F238E27FC236}">
                <a16:creationId xmlns:a16="http://schemas.microsoft.com/office/drawing/2014/main" id="{38A3306F-D2D2-8950-6947-DB4615BE554D}"/>
              </a:ext>
            </a:extLst>
          </p:cNvPr>
          <p:cNvSpPr/>
          <p:nvPr/>
        </p:nvSpPr>
        <p:spPr>
          <a:xfrm>
            <a:off x="5715000" y="101727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500" b="1" dirty="0">
                <a:solidFill>
                  <a:srgbClr val="8B5CF6"/>
                </a:solidFill>
                <a:latin typeface="Trebuchet MS" pitchFamily="34" charset="0"/>
              </a:rPr>
              <a:t>Méthode Agile</a:t>
            </a:r>
          </a:p>
        </p:txBody>
      </p:sp>
      <p:sp>
        <p:nvSpPr>
          <p:cNvPr id="226" name="OB">
            <a:extLst>
              <a:ext uri="{FF2B5EF4-FFF2-40B4-BE49-F238E27FC236}">
                <a16:creationId xmlns:a16="http://schemas.microsoft.com/office/drawing/2014/main" id="{0B57B86C-C191-9F6C-F776-BCAC087B92FD}"/>
              </a:ext>
            </a:extLst>
          </p:cNvPr>
          <p:cNvSpPr/>
          <p:nvPr/>
        </p:nvSpPr>
        <p:spPr>
          <a:xfrm>
            <a:off x="5715000" y="133731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har char="•"/>
            </a:pPr>
            <a:r>
              <a:rPr lang="fr-FR" sz="1100" dirty="0">
                <a:solidFill>
                  <a:srgbClr val="CBD5E1"/>
                </a:solidFill>
                <a:latin typeface="Calibri" pitchFamily="34" charset="0"/>
              </a:rPr>
              <a:t>Sprints de 2 semaines</a:t>
            </a:r>
          </a:p>
          <a:p>
            <a:pPr marL="171450" indent="-171450">
              <a:buChar char="•"/>
            </a:pPr>
            <a:r>
              <a:rPr lang="fr-FR" sz="1100" dirty="0">
                <a:solidFill>
                  <a:srgbClr val="CBD5E1"/>
                </a:solidFill>
                <a:latin typeface="Calibri" pitchFamily="34" charset="0"/>
              </a:rPr>
              <a:t>Weekly</a:t>
            </a:r>
          </a:p>
          <a:p>
            <a:pPr marL="171450" indent="-171450">
              <a:buChar char="•"/>
            </a:pPr>
            <a:r>
              <a:rPr lang="fr-FR" sz="1100" dirty="0">
                <a:solidFill>
                  <a:srgbClr val="CBD5E1"/>
                </a:solidFill>
                <a:latin typeface="Calibri" pitchFamily="34" charset="0"/>
              </a:rPr>
              <a:t>Rétrospectives régulières</a:t>
            </a:r>
          </a:p>
        </p:txBody>
      </p:sp>
      <p:sp>
        <p:nvSpPr>
          <p:cNvPr id="227" name="RT">
            <a:extLst>
              <a:ext uri="{FF2B5EF4-FFF2-40B4-BE49-F238E27FC236}">
                <a16:creationId xmlns:a16="http://schemas.microsoft.com/office/drawing/2014/main" id="{945C711A-44EA-5D68-1959-B8C490D2D765}"/>
              </a:ext>
            </a:extLst>
          </p:cNvPr>
          <p:cNvSpPr/>
          <p:nvPr/>
        </p:nvSpPr>
        <p:spPr>
          <a:xfrm>
            <a:off x="5715000" y="220599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500" b="1" dirty="0">
                <a:solidFill>
                  <a:srgbClr val="8B5CF6"/>
                </a:solidFill>
                <a:latin typeface="Trebuchet MS" pitchFamily="34" charset="0"/>
              </a:rPr>
              <a:t>Répartition</a:t>
            </a:r>
          </a:p>
        </p:txBody>
      </p:sp>
      <p:sp>
        <p:nvSpPr>
          <p:cNvPr id="228" name="RB">
            <a:extLst>
              <a:ext uri="{FF2B5EF4-FFF2-40B4-BE49-F238E27FC236}">
                <a16:creationId xmlns:a16="http://schemas.microsoft.com/office/drawing/2014/main" id="{E12D6CF9-BB3E-4FFF-365C-FDBDC2C69D08}"/>
              </a:ext>
            </a:extLst>
          </p:cNvPr>
          <p:cNvSpPr/>
          <p:nvPr/>
        </p:nvSpPr>
        <p:spPr>
          <a:xfrm>
            <a:off x="5715000" y="252603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har char="•"/>
            </a:pPr>
            <a:r>
              <a:rPr lang="fr-FR" sz="1100" dirty="0">
                <a:solidFill>
                  <a:srgbClr val="CBD5E1"/>
                </a:solidFill>
                <a:latin typeface="Calibri" pitchFamily="34" charset="0"/>
              </a:rPr>
              <a:t>4 développeurs</a:t>
            </a:r>
          </a:p>
          <a:p>
            <a:pPr marL="171450" indent="-171450">
              <a:buChar char="•"/>
            </a:pPr>
            <a:r>
              <a:rPr lang="fr-FR" sz="1100" dirty="0">
                <a:solidFill>
                  <a:srgbClr val="CBD5E1"/>
                </a:solidFill>
                <a:latin typeface="Calibri" pitchFamily="34" charset="0"/>
              </a:rPr>
              <a:t>~450h équipe (~110h/pers.)</a:t>
            </a:r>
          </a:p>
          <a:p>
            <a:pPr marL="171450" indent="-171450">
              <a:buChar char="•"/>
            </a:pPr>
            <a:r>
              <a:rPr lang="fr-FR" sz="1100" dirty="0">
                <a:solidFill>
                  <a:srgbClr val="CBD5E1"/>
                </a:solidFill>
                <a:latin typeface="Calibri" pitchFamily="34" charset="0"/>
              </a:rPr>
              <a:t>RACI défini en début de projet</a:t>
            </a:r>
          </a:p>
        </p:txBody>
      </p:sp>
      <p:sp>
        <p:nvSpPr>
          <p:cNvPr id="229" name="LT">
            <a:extLst>
              <a:ext uri="{FF2B5EF4-FFF2-40B4-BE49-F238E27FC236}">
                <a16:creationId xmlns:a16="http://schemas.microsoft.com/office/drawing/2014/main" id="{B0B69E9B-1854-2E17-31E1-7E46C1F15211}"/>
              </a:ext>
            </a:extLst>
          </p:cNvPr>
          <p:cNvSpPr/>
          <p:nvPr/>
        </p:nvSpPr>
        <p:spPr>
          <a:xfrm>
            <a:off x="5715000" y="321183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500" b="1" dirty="0">
                <a:solidFill>
                  <a:srgbClr val="8B5CF6"/>
                </a:solidFill>
                <a:latin typeface="Trebuchet MS" pitchFamily="34" charset="0"/>
              </a:rPr>
              <a:t> Livrables clés</a:t>
            </a:r>
          </a:p>
        </p:txBody>
      </p:sp>
      <p:sp>
        <p:nvSpPr>
          <p:cNvPr id="230" name="LB">
            <a:extLst>
              <a:ext uri="{FF2B5EF4-FFF2-40B4-BE49-F238E27FC236}">
                <a16:creationId xmlns:a16="http://schemas.microsoft.com/office/drawing/2014/main" id="{6931930C-DBA5-442D-DD48-DEBC21ECA167}"/>
              </a:ext>
            </a:extLst>
          </p:cNvPr>
          <p:cNvSpPr/>
          <p:nvPr/>
        </p:nvSpPr>
        <p:spPr>
          <a:xfrm>
            <a:off x="5715000" y="353187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100" dirty="0">
                <a:solidFill>
                  <a:srgbClr val="22C55E"/>
                </a:solidFill>
                <a:latin typeface="Calibri" pitchFamily="34" charset="0"/>
              </a:rPr>
              <a:t>✅ Note de cadrage (Bloc 1)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CBD5E1"/>
                </a:solidFill>
                <a:latin typeface="Calibri" pitchFamily="34" charset="0"/>
              </a:rPr>
              <a:t>🟡 MVP fonctionnel (Bloc 2)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94A3B8"/>
                </a:solidFill>
                <a:latin typeface="Calibri" pitchFamily="34" charset="0"/>
              </a:rPr>
              <a:t>🔴 Application complète (Bloc 3)</a:t>
            </a:r>
          </a:p>
        </p:txBody>
      </p:sp>
      <p:pic>
        <p:nvPicPr>
          <p:cNvPr id="231" name="LC">
            <a:extLst>
              <a:ext uri="{FF2B5EF4-FFF2-40B4-BE49-F238E27FC236}">
                <a16:creationId xmlns:a16="http://schemas.microsoft.com/office/drawing/2014/main" id="{ADF6F30F-73B9-4059-B0C1-D9661867A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47937"/>
            <a:ext cx="1097280" cy="376210"/>
          </a:xfrm>
          <a:prstGeom prst="rect">
            <a:avLst/>
          </a:prstGeom>
        </p:spPr>
      </p:pic>
      <p:pic>
        <p:nvPicPr>
          <p:cNvPr id="232" name="LL">
            <a:extLst>
              <a:ext uri="{FF2B5EF4-FFF2-40B4-BE49-F238E27FC236}">
                <a16:creationId xmlns:a16="http://schemas.microsoft.com/office/drawing/2014/main" id="{CD25B68B-5A46-4678-804C-AE4AAFA3D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75" y="4834890"/>
            <a:ext cx="822960" cy="24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CONTRAINTES DU PROJET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doit respecter avant de choisir nos technologies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recherche &lt; 100ms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9572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responsive mobile-first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7977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779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SOLID respectés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6382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3163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avec commits structurés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4632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FONCTIONNELLES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01168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5780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WCAG 2.1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395728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5780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 i18n + RTL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779776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57800" y="2779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accessible sans connexion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163824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57800" y="3163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PCI-DSS via Stripe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4434840" y="2011680"/>
            <a:ext cx="0" cy="1371600"/>
          </a:xfrm>
          <a:prstGeom prst="line">
            <a:avLst/>
          </a:prstGeom>
          <a:noFill/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2" name="Image 0" descr="/home/claude/logo_cyna.png">
            <a:extLst>
              <a:ext uri="{FF2B5EF4-FFF2-40B4-BE49-F238E27FC236}">
                <a16:creationId xmlns:a16="http://schemas.microsoft.com/office/drawing/2014/main" id="{2CE4A5DA-8C54-FD89-AC85-9FE7EC125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43" name="Image 1" descr="/home/claude/logo_limayrac.png">
            <a:extLst>
              <a:ext uri="{FF2B5EF4-FFF2-40B4-BE49-F238E27FC236}">
                <a16:creationId xmlns:a16="http://schemas.microsoft.com/office/drawing/2014/main" id="{52830488-3C9A-7676-2CAF-E8AB5A42F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75" y="4777740"/>
            <a:ext cx="822960" cy="24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TECHNIQUES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tenu des contraintes, voici nos technologies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(SPA)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83280" y="1508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SPA, composants réutilisables, mobile-first, large communauté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346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383280" y="2697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Auth + RLS intégrés, Edge Functions serverless, temps réel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457200" y="374904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233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383280" y="3886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natif, abonnements clé en main, webhooks fiables, sandbox gratuit</a:t>
            </a:r>
            <a:endParaRPr lang="en-US" sz="1250" dirty="0"/>
          </a:p>
        </p:txBody>
      </p:sp>
      <p:pic>
        <p:nvPicPr>
          <p:cNvPr id="22" name="Image 0" descr="/home/claude/logo_cyna.png">
            <a:extLst>
              <a:ext uri="{FF2B5EF4-FFF2-40B4-BE49-F238E27FC236}">
                <a16:creationId xmlns:a16="http://schemas.microsoft.com/office/drawing/2014/main" id="{31ED8C2E-F58E-B376-9098-37C025F34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23" name="Image 1" descr="/home/claude/logo_limayrac.png">
            <a:extLst>
              <a:ext uri="{FF2B5EF4-FFF2-40B4-BE49-F238E27FC236}">
                <a16:creationId xmlns:a16="http://schemas.microsoft.com/office/drawing/2014/main" id="{9236B000-DD2C-81BD-6CE8-705D1A2D1E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575" y="4777740"/>
            <a:ext cx="822960" cy="24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5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8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blocs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communiquent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eux</a:t>
            </a:r>
            <a:endParaRPr lang="en-US" sz="1400" dirty="0"/>
          </a:p>
        </p:txBody>
      </p:sp>
      <p:pic>
        <p:nvPicPr>
          <p:cNvPr id="6" name="Image 0" descr="/mnt/user-data/uploads/177148896648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8595360" cy="3291840"/>
          </a:xfrm>
          <a:prstGeom prst="rect">
            <a:avLst/>
          </a:prstGeom>
        </p:spPr>
      </p:pic>
      <p:pic>
        <p:nvPicPr>
          <p:cNvPr id="7" name="Image 0" descr="/home/claude/logo_cyna.png">
            <a:extLst>
              <a:ext uri="{FF2B5EF4-FFF2-40B4-BE49-F238E27FC236}">
                <a16:creationId xmlns:a16="http://schemas.microsoft.com/office/drawing/2014/main" id="{F7AFC412-CB25-CD92-428F-75EE74A17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9" name="Image 1" descr="/home/claude/logo_limayrac.png">
            <a:extLst>
              <a:ext uri="{FF2B5EF4-FFF2-40B4-BE49-F238E27FC236}">
                <a16:creationId xmlns:a16="http://schemas.microsoft.com/office/drawing/2014/main" id="{52E0EC27-E11C-A2CC-AF75-ADEDEBE753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75" y="4777740"/>
            <a:ext cx="822960" cy="2400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3 blocs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18288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React, Backend Supabase, Paiement Stripe — découplés et communiquant via API et webhooks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974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au cœur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371600" y="29260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RBAC, MFA admin, JWT, PCI-DSS — la sécurité est intégrée à chaque couche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457200" y="356616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947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moderne &amp; scalable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371600" y="40233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éprouvées, open-source, rapides à déployer et prêtes pour la montée en charge</a:t>
            </a:r>
            <a:endParaRPr lang="en-US" sz="1200" dirty="0"/>
          </a:p>
        </p:txBody>
      </p:sp>
      <p:pic>
        <p:nvPicPr>
          <p:cNvPr id="22" name="Image 0" descr="/home/claude/logo_cyna.png">
            <a:extLst>
              <a:ext uri="{FF2B5EF4-FFF2-40B4-BE49-F238E27FC236}">
                <a16:creationId xmlns:a16="http://schemas.microsoft.com/office/drawing/2014/main" id="{837EAB03-BF8E-EDF7-B71C-EF75BC454F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24" name="Image 1" descr="/home/claude/logo_limayrac.png">
            <a:extLst>
              <a:ext uri="{FF2B5EF4-FFF2-40B4-BE49-F238E27FC236}">
                <a16:creationId xmlns:a16="http://schemas.microsoft.com/office/drawing/2014/main" id="{4EEEEA1B-EC21-99BB-33E7-9EB7F799C3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575" y="4777740"/>
            <a:ext cx="822960" cy="2400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5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8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PageNum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10 / 11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FFFFFF"/>
                </a:solidFill>
                <a:latin typeface="Trebuchet MS" pitchFamily="34" charset="0"/>
              </a:rPr>
              <a:t>PROCHAINES ÉTAPES — BLOC 2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dirty="0">
                <a:solidFill>
                  <a:srgbClr val="94A3B8"/>
                </a:solidFill>
                <a:latin typeface="Calibri" pitchFamily="34" charset="0"/>
              </a:rPr>
              <a:t>Roadmap Backend — Mars – Avril 2026</a:t>
            </a:r>
          </a:p>
        </p:txBody>
      </p:sp>
      <p:sp>
        <p:nvSpPr>
          <p:cNvPr id="50" name="VLine"/>
          <p:cNvSpPr/>
          <p:nvPr/>
        </p:nvSpPr>
        <p:spPr>
          <a:xfrm>
            <a:off x="1005840" y="1051560"/>
            <a:ext cx="27432" cy="34747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Dot1"/>
          <p:cNvSpPr/>
          <p:nvPr/>
        </p:nvSpPr>
        <p:spPr>
          <a:xfrm>
            <a:off x="886968" y="1051560"/>
            <a:ext cx="265176" cy="265176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pPr algn="ctr"/>
            <a:r>
              <a:rPr lang="fr-FR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61" name="Card1"/>
          <p:cNvSpPr/>
          <p:nvPr/>
        </p:nvSpPr>
        <p:spPr>
          <a:xfrm>
            <a:off x="1371600" y="1005840"/>
            <a:ext cx="4114800" cy="640080"/>
          </a:xfrm>
          <a:prstGeom prst="roundRect">
            <a:avLst>
              <a:gd name="adj" fmla="val 8000"/>
            </a:avLst>
          </a:prstGeom>
          <a:solidFill>
            <a:srgbClr val="161E35"/>
          </a:solidFill>
          <a:ln w="12700">
            <a:solidFill>
              <a:srgbClr val="8B5CF6">
                <a:alpha val="4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2" name="S1T"/>
          <p:cNvSpPr/>
          <p:nvPr/>
        </p:nvSpPr>
        <p:spPr>
          <a:xfrm>
            <a:off x="1508760" y="1020000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8B5CF6"/>
                </a:solidFill>
                <a:latin typeface="Trebuchet MS" pitchFamily="34" charset="0"/>
              </a:rPr>
              <a:t>Mise en place</a:t>
            </a:r>
          </a:p>
        </p:txBody>
      </p:sp>
      <p:sp>
        <p:nvSpPr>
          <p:cNvPr id="63" name="S1B"/>
          <p:cNvSpPr/>
          <p:nvPr/>
        </p:nvSpPr>
        <p:spPr>
          <a:xfrm>
            <a:off x="1508760" y="128016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fr-FR" sz="1000" dirty="0">
                <a:solidFill>
                  <a:srgbClr val="CBD5E1"/>
                </a:solidFill>
                <a:latin typeface="Calibri" pitchFamily="34" charset="0"/>
              </a:rPr>
              <a:t>Config Supabase (Auth, DB, RLS) · Stripe sandbox · CI/CD</a:t>
            </a:r>
          </a:p>
        </p:txBody>
      </p:sp>
      <p:sp>
        <p:nvSpPr>
          <p:cNvPr id="70" name="Dot2"/>
          <p:cNvSpPr/>
          <p:nvPr/>
        </p:nvSpPr>
        <p:spPr>
          <a:xfrm>
            <a:off x="886968" y="1828800"/>
            <a:ext cx="265176" cy="265176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pPr algn="ctr"/>
            <a:r>
              <a:rPr lang="fr-FR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71" name="Card2"/>
          <p:cNvSpPr/>
          <p:nvPr/>
        </p:nvSpPr>
        <p:spPr>
          <a:xfrm>
            <a:off x="1371600" y="1783080"/>
            <a:ext cx="4114800" cy="640080"/>
          </a:xfrm>
          <a:prstGeom prst="roundRect">
            <a:avLst>
              <a:gd name="adj" fmla="val 8000"/>
            </a:avLst>
          </a:prstGeom>
          <a:solidFill>
            <a:srgbClr val="161E35"/>
          </a:solidFill>
          <a:ln w="12700">
            <a:solidFill>
              <a:srgbClr val="8B5CF6">
                <a:alpha val="4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2" name="S2T"/>
          <p:cNvSpPr/>
          <p:nvPr/>
        </p:nvSpPr>
        <p:spPr>
          <a:xfrm>
            <a:off x="1508760" y="1797240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8B5CF6"/>
                </a:solidFill>
                <a:latin typeface="Trebuchet MS" pitchFamily="34" charset="0"/>
              </a:rPr>
              <a:t>API &amp; Base de données</a:t>
            </a:r>
          </a:p>
        </p:txBody>
      </p:sp>
      <p:sp>
        <p:nvSpPr>
          <p:cNvPr id="73" name="S2B"/>
          <p:cNvSpPr/>
          <p:nvPr/>
        </p:nvSpPr>
        <p:spPr>
          <a:xfrm>
            <a:off x="1508760" y="20574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fr-FR" sz="1000" dirty="0">
                <a:solidFill>
                  <a:srgbClr val="CBD5E1"/>
                </a:solidFill>
                <a:latin typeface="Calibri" pitchFamily="34" charset="0"/>
              </a:rPr>
              <a:t>CRUD produits/catégories · Politiques RLS · Recherche &lt; 100ms</a:t>
            </a:r>
          </a:p>
        </p:txBody>
      </p:sp>
      <p:sp>
        <p:nvSpPr>
          <p:cNvPr id="80" name="Dot3"/>
          <p:cNvSpPr/>
          <p:nvPr/>
        </p:nvSpPr>
        <p:spPr>
          <a:xfrm>
            <a:off x="886968" y="2606040"/>
            <a:ext cx="265176" cy="265176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pPr algn="ctr"/>
            <a:r>
              <a:rPr lang="fr-FR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81" name="Card3"/>
          <p:cNvSpPr/>
          <p:nvPr/>
        </p:nvSpPr>
        <p:spPr>
          <a:xfrm>
            <a:off x="1371600" y="2560320"/>
            <a:ext cx="4114800" cy="640080"/>
          </a:xfrm>
          <a:prstGeom prst="roundRect">
            <a:avLst>
              <a:gd name="adj" fmla="val 8000"/>
            </a:avLst>
          </a:prstGeom>
          <a:solidFill>
            <a:srgbClr val="161E35"/>
          </a:solidFill>
          <a:ln w="12700">
            <a:solidFill>
              <a:srgbClr val="8B5CF6">
                <a:alpha val="4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82" name="S3T"/>
          <p:cNvSpPr/>
          <p:nvPr/>
        </p:nvSpPr>
        <p:spPr>
          <a:xfrm>
            <a:off x="1508760" y="2574480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8B5CF6"/>
                </a:solidFill>
                <a:latin typeface="Trebuchet MS" pitchFamily="34" charset="0"/>
              </a:rPr>
              <a:t>Authentification</a:t>
            </a:r>
          </a:p>
        </p:txBody>
      </p:sp>
      <p:sp>
        <p:nvSpPr>
          <p:cNvPr id="83" name="S3B"/>
          <p:cNvSpPr/>
          <p:nvPr/>
        </p:nvSpPr>
        <p:spPr>
          <a:xfrm>
            <a:off x="1508760" y="283464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fr-FR" sz="1000" dirty="0">
                <a:solidFill>
                  <a:srgbClr val="CBD5E1"/>
                </a:solidFill>
                <a:latin typeface="Calibri" pitchFamily="34" charset="0"/>
              </a:rPr>
              <a:t>JWT clients · MFA admins · Gestion sessions</a:t>
            </a:r>
          </a:p>
        </p:txBody>
      </p:sp>
      <p:sp>
        <p:nvSpPr>
          <p:cNvPr id="90" name="Dot4"/>
          <p:cNvSpPr/>
          <p:nvPr/>
        </p:nvSpPr>
        <p:spPr>
          <a:xfrm>
            <a:off x="886968" y="3383280"/>
            <a:ext cx="265176" cy="265176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pPr algn="ctr"/>
            <a:r>
              <a:rPr lang="fr-FR" sz="1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91" name="Card4"/>
          <p:cNvSpPr/>
          <p:nvPr/>
        </p:nvSpPr>
        <p:spPr>
          <a:xfrm>
            <a:off x="1371600" y="3337560"/>
            <a:ext cx="4114800" cy="640080"/>
          </a:xfrm>
          <a:prstGeom prst="roundRect">
            <a:avLst>
              <a:gd name="adj" fmla="val 8000"/>
            </a:avLst>
          </a:prstGeom>
          <a:solidFill>
            <a:srgbClr val="161E35"/>
          </a:solidFill>
          <a:ln w="12700">
            <a:solidFill>
              <a:srgbClr val="8B5CF6">
                <a:alpha val="4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2" name="S4T"/>
          <p:cNvSpPr/>
          <p:nvPr/>
        </p:nvSpPr>
        <p:spPr>
          <a:xfrm>
            <a:off x="1508760" y="3351720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8B5CF6"/>
                </a:solidFill>
                <a:latin typeface="Trebuchet MS" pitchFamily="34" charset="0"/>
              </a:rPr>
              <a:t>Edge Functions</a:t>
            </a:r>
          </a:p>
        </p:txBody>
      </p:sp>
      <p:sp>
        <p:nvSpPr>
          <p:cNvPr id="93" name="S4B"/>
          <p:cNvSpPr/>
          <p:nvPr/>
        </p:nvSpPr>
        <p:spPr>
          <a:xfrm>
            <a:off x="1508760" y="361188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fr-FR" sz="1000" dirty="0">
                <a:solidFill>
                  <a:srgbClr val="CBD5E1"/>
                </a:solidFill>
                <a:latin typeface="Calibri" pitchFamily="34" charset="0"/>
              </a:rPr>
              <a:t>Webhooks Stripe · Factures PDF · Logique métier</a:t>
            </a:r>
          </a:p>
        </p:txBody>
      </p:sp>
      <p:sp>
        <p:nvSpPr>
          <p:cNvPr id="95" name="DotEnd"/>
          <p:cNvSpPr/>
          <p:nvPr/>
        </p:nvSpPr>
        <p:spPr>
          <a:xfrm>
            <a:off x="886968" y="4160520"/>
            <a:ext cx="265176" cy="26517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96" name="MilestoneLabel"/>
          <p:cNvSpPr/>
          <p:nvPr/>
        </p:nvSpPr>
        <p:spPr>
          <a:xfrm>
            <a:off x="13716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22C55E"/>
                </a:solidFill>
                <a:latin typeface="Trebuchet MS" pitchFamily="34" charset="0"/>
              </a:rPr>
              <a:t>JURY BLOC 2 — 21 avril 2026</a:t>
            </a:r>
          </a:p>
        </p:txBody>
      </p:sp>
      <p:sp>
        <p:nvSpPr>
          <p:cNvPr id="200" name="VSep"/>
          <p:cNvSpPr/>
          <p:nvPr/>
        </p:nvSpPr>
        <p:spPr>
          <a:xfrm>
            <a:off x="5897880" y="1005840"/>
            <a:ext cx="18288" cy="34747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1" name="LivTitle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dirty="0">
                <a:solidFill>
                  <a:srgbClr val="8B5CF6"/>
                </a:solidFill>
                <a:latin typeface="Trebuchet MS" pitchFamily="34" charset="0"/>
              </a:rPr>
              <a:t> Livrables</a:t>
            </a:r>
          </a:p>
        </p:txBody>
      </p:sp>
      <p:sp>
        <p:nvSpPr>
          <p:cNvPr id="210" name="Livs"/>
          <p:cNvSpPr/>
          <p:nvPr/>
        </p:nvSpPr>
        <p:spPr>
          <a:xfrm>
            <a:off x="6126480" y="14630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fr-FR" sz="1200" b="1" dirty="0">
                <a:solidFill>
                  <a:srgbClr val="22C55E"/>
                </a:solidFill>
                <a:latin typeface="Calibri" pitchFamily="34" charset="0"/>
              </a:rPr>
              <a:t>✅ MVP Backend fonctionnel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94A3B8"/>
                </a:solidFill>
                <a:latin typeface="Calibri" pitchFamily="34" charset="0"/>
              </a:rPr>
              <a:t>    Backend alimentant le frontend</a:t>
            </a:r>
          </a:p>
          <a:p>
            <a:pPr marL="0" indent="0">
              <a:buNone/>
            </a:pPr>
            <a:endParaRPr lang="fr-FR" sz="600" dirty="0"/>
          </a:p>
          <a:p>
            <a:pPr marL="0" indent="0">
              <a:buNone/>
            </a:pPr>
            <a:r>
              <a:rPr lang="fr-FR" sz="1200" b="1" dirty="0">
                <a:solidFill>
                  <a:srgbClr val="22C55E"/>
                </a:solidFill>
                <a:latin typeface="Calibri" pitchFamily="34" charset="0"/>
              </a:rPr>
              <a:t>✅ Documentation API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94A3B8"/>
                </a:solidFill>
                <a:latin typeface="Calibri" pitchFamily="34" charset="0"/>
              </a:rPr>
              <a:t>    Endpoints, auth, modèles</a:t>
            </a:r>
          </a:p>
          <a:p>
            <a:pPr marL="0" indent="0">
              <a:buNone/>
            </a:pPr>
            <a:endParaRPr lang="fr-FR" sz="600" dirty="0"/>
          </a:p>
          <a:p>
            <a:pPr marL="0" indent="0">
              <a:buNone/>
            </a:pPr>
            <a:r>
              <a:rPr lang="fr-FR" sz="1200" b="1" dirty="0">
                <a:solidFill>
                  <a:srgbClr val="22C55E"/>
                </a:solidFill>
                <a:latin typeface="Calibri" pitchFamily="34" charset="0"/>
              </a:rPr>
              <a:t>✅ Tests d’intégration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94A3B8"/>
                </a:solidFill>
                <a:latin typeface="Calibri" pitchFamily="34" charset="0"/>
              </a:rPr>
              <a:t>    Stripe sandbox + parcours utilisateur</a:t>
            </a:r>
          </a:p>
          <a:p>
            <a:pPr marL="0" indent="0">
              <a:buNone/>
            </a:pPr>
            <a:endParaRPr lang="fr-FR" sz="600" dirty="0"/>
          </a:p>
          <a:p>
            <a:pPr marL="0" indent="0">
              <a:buNone/>
            </a:pPr>
            <a:r>
              <a:rPr lang="fr-FR" sz="1200" b="1" dirty="0">
                <a:solidFill>
                  <a:srgbClr val="22C55E"/>
                </a:solidFill>
                <a:latin typeface="Calibri" pitchFamily="34" charset="0"/>
              </a:rPr>
              <a:t>✅ Repo Git structuré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94A3B8"/>
                </a:solidFill>
                <a:latin typeface="Calibri" pitchFamily="34" charset="0"/>
              </a:rPr>
              <a:t>    Commits clairs, branches</a:t>
            </a:r>
          </a:p>
        </p:txBody>
      </p:sp>
      <p:pic>
        <p:nvPicPr>
          <p:cNvPr id="250" name="LogoCy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251" name="LogoLi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75" y="4777740"/>
            <a:ext cx="822960" cy="2400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6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6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6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300"/>
                                  <p:tgtEl>
                                    <p:spTgt spid="7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3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300"/>
                                  <p:tgtEl>
                                    <p:spTgt spid="7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300"/>
                                  <p:tgtEl>
                                    <p:spTgt spid="7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300"/>
                                  <p:tgtEl>
                                    <p:spTgt spid="8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300"/>
                                  <p:tgtEl>
                                    <p:spTgt spid="8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300"/>
                                  <p:tgtEl>
                                    <p:spTgt spid="8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30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9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9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300"/>
                                  <p:tgtEl>
                                    <p:spTgt spid="9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" dur="300"/>
                                  <p:tgtEl>
                                    <p:spTgt spid="9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300"/>
                                  <p:tgtEl>
                                    <p:spTgt spid="20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" presetID="10" presetClass="entr" presetSubtype="0" fill="hold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300"/>
                                  <p:tgtEl>
                                    <p:spTgt spid="20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" presetID="10" presetClass="entr" presetSubtype="0" fill="hold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400"/>
                                  <p:tgtEl>
                                    <p:spTgt spid="2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logo_cy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48640"/>
            <a:ext cx="2743200" cy="9418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474720" y="3200400"/>
            <a:ext cx="2194560" cy="0"/>
          </a:xfrm>
          <a:prstGeom prst="line">
            <a:avLst/>
          </a:prstGeom>
          <a:noFill/>
          <a:ln w="254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Ilane MAC-LUCKIE · Institut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Limayrac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pic>
        <p:nvPicPr>
          <p:cNvPr id="9" name="Image 1" descr="/home/claude/logo_limayr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480560"/>
            <a:ext cx="1097280" cy="3200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— BACKEND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système : données, auth, logique métier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630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Backend-as-a-Service open-source basé sur PostgreSQL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74720" y="2532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 : isolation par utilisateur/rôle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474720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clients, MFA obligatoire admins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57200" y="365760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490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474720" y="3721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: webhooks Stripe, logique métier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457200" y="425196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434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4315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74720" y="4315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stricte Client / Admin</a:t>
            </a:r>
            <a:endParaRPr lang="en-US" sz="1200" dirty="0"/>
          </a:p>
        </p:txBody>
      </p:sp>
      <p:pic>
        <p:nvPicPr>
          <p:cNvPr id="29" name="Image 0" descr="/home/claude/logo_cyna.png">
            <a:extLst>
              <a:ext uri="{FF2B5EF4-FFF2-40B4-BE49-F238E27FC236}">
                <a16:creationId xmlns:a16="http://schemas.microsoft.com/office/drawing/2014/main" id="{9F75DBBC-D52D-4704-931D-5A7A6AF09E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31" name="Image 1" descr="/home/claude/logo_limayrac.png">
            <a:extLst>
              <a:ext uri="{FF2B5EF4-FFF2-40B4-BE49-F238E27FC236}">
                <a16:creationId xmlns:a16="http://schemas.microsoft.com/office/drawing/2014/main" id="{0394C7EC-95B7-01EE-12A7-AC0FF908B9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575" y="4777740"/>
            <a:ext cx="822960" cy="2400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5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8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— PAIEMENT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sécurisée des paiements et abonnements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630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du paiement en ligne, conforme PCI-DSS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50292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50292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sécurisé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040380" y="256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hébergée Stripe, carte enregistrée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50292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50292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017520" y="317525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 : succès, échec, renouvellement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657600"/>
            <a:ext cx="50292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57200" y="3657600"/>
            <a:ext cx="50292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490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999935" y="374974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Mensuel/annuel, upgrade/downgrade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943600" y="2468880"/>
            <a:ext cx="2834640" cy="210312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5943600" y="2468880"/>
            <a:ext cx="283464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74320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43600" y="3337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PCI-DSS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612648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gère 100% de la sécurité des paiements.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4114800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943600" y="4297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donnée bancaire stockée</a:t>
            </a:r>
            <a:endParaRPr lang="en-US" sz="1000" dirty="0"/>
          </a:p>
        </p:txBody>
      </p:sp>
      <p:pic>
        <p:nvPicPr>
          <p:cNvPr id="31" name="Image 0" descr="/home/claude/logo_cyna.png">
            <a:extLst>
              <a:ext uri="{FF2B5EF4-FFF2-40B4-BE49-F238E27FC236}">
                <a16:creationId xmlns:a16="http://schemas.microsoft.com/office/drawing/2014/main" id="{4B2FE5AB-D4BB-28A0-FD1F-BEA9B2FCCC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33" name="Image 1" descr="/home/claude/logo_limayrac.png">
            <a:extLst>
              <a:ext uri="{FF2B5EF4-FFF2-40B4-BE49-F238E27FC236}">
                <a16:creationId xmlns:a16="http://schemas.microsoft.com/office/drawing/2014/main" id="{BDCDF74C-89E8-610A-E739-C4FE10A3B9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575" y="4777740"/>
            <a:ext cx="822960" cy="2400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— FRONTEND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utilisateur côté client et admin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SPA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630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 responsive et mobile-first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1460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client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7472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catalogue, produit, recherche, panier, checkout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9008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utilisateur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474720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Compte, abonnements, historique, paiement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65576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419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474720" y="3419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FAQ, formulaire de contact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41064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admin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474720" y="3895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catalogue, commandes, dashboard (web only)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16552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012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3474720" y="4370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TailwindCSS, 12 pages fonctionnelles</a:t>
            </a:r>
            <a:endParaRPr lang="en-US" sz="1200" dirty="0"/>
          </a:p>
        </p:txBody>
      </p:sp>
      <p:pic>
        <p:nvPicPr>
          <p:cNvPr id="24" name="Image 0" descr="/home/claude/logo_cyna.png">
            <a:extLst>
              <a:ext uri="{FF2B5EF4-FFF2-40B4-BE49-F238E27FC236}">
                <a16:creationId xmlns:a16="http://schemas.microsoft.com/office/drawing/2014/main" id="{00F2EB32-F4FE-DBFE-02F8-E93899E4F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25" name="Image 1" descr="/home/claude/logo_limayrac.png">
            <a:extLst>
              <a:ext uri="{FF2B5EF4-FFF2-40B4-BE49-F238E27FC236}">
                <a16:creationId xmlns:a16="http://schemas.microsoft.com/office/drawing/2014/main" id="{D13B1757-7F8B-6B2C-7475-1F4EB60A6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575" y="4777740"/>
            <a:ext cx="822960" cy="2400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875</Words>
  <Application>Microsoft Office PowerPoint</Application>
  <PresentationFormat>Affichage à l'écran (16:9)</PresentationFormat>
  <Paragraphs>231</Paragraphs>
  <Slides>14</Slides>
  <Notes>11</Notes>
  <HiddenSlides>3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CYNA - Architecture &amp; Back-end</dc:title>
  <dc:subject>PptxGenJS Presentation</dc:subject>
  <dc:creator>Ilane MAC-LUCKIE</dc:creator>
  <cp:lastModifiedBy>rixe boum</cp:lastModifiedBy>
  <cp:revision>9</cp:revision>
  <dcterms:created xsi:type="dcterms:W3CDTF">2026-02-19T08:39:05Z</dcterms:created>
  <dcterms:modified xsi:type="dcterms:W3CDTF">2026-02-20T08:59:31Z</dcterms:modified>
</cp:coreProperties>
</file>