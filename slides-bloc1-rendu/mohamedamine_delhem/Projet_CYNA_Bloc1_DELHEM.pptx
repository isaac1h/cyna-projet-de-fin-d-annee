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8" r:id="rId9"/>
    <p:sldId id="262" r:id="rId10"/>
    <p:sldId id="269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5CF6"/>
    <a:srgbClr val="CC00FF"/>
    <a:srgbClr val="000066"/>
    <a:srgbClr val="3A003A"/>
    <a:srgbClr val="660066"/>
    <a:srgbClr val="660033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99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2CA07-C899-1CA5-3D56-3677C66A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46B96-AFA2-0608-9E80-D1DD1067C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6625D-4FC1-D347-B526-2FAF41112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D2A65-EF67-99ED-F24A-97559A3B0A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90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0EC5A-7C38-F2B7-B191-33392BF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75E41-9033-DBBF-AA5E-371868245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84F0B-4550-3CE1-0F31-A84457E36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D65C5-AC79-63C7-31F0-54068F9C5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37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8199-98DD-C771-3814-EDABCFC0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A6B22-6B71-F93A-5D42-E2F16116A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8902D-C492-D66B-A7AA-308740548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BEFB7-8614-1315-8672-AD3B12846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54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logo_cy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661182"/>
            <a:ext cx="320040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3278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474720" y="2764302"/>
            <a:ext cx="219456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57200" y="303862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Mohamed Amine DELHEM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40438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Limayrac · B3 DEV · Bloc 1 · 20/02/2026</a:t>
            </a:r>
            <a:endParaRPr lang="en-US" sz="1100" dirty="0"/>
          </a:p>
        </p:txBody>
      </p:sp>
      <p:pic>
        <p:nvPicPr>
          <p:cNvPr id="11" name="Image 1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8DE6B07B-7D76-B4DF-AA73-017080373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9" y="4467900"/>
            <a:ext cx="1598611" cy="530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89775-0CCA-F11D-EB66-3889ED77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F32A0E-205E-A51C-10F3-FE63536FA3E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FF22C6-4254-DEB1-7221-7625494C8C3C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CB4040-DA0D-0E4C-983C-77532F65C76F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en-US" sz="28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D207AD61-5807-AFAE-9AA9-13F2034E24F1}"/>
              </a:ext>
            </a:extLst>
          </p:cNvPr>
          <p:cNvSpPr/>
          <p:nvPr/>
        </p:nvSpPr>
        <p:spPr>
          <a:xfrm>
            <a:off x="594360" y="3337559"/>
            <a:ext cx="8183288" cy="380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43" name="Image 0" descr="/home/claude/logo_cyna.png">
            <a:extLst>
              <a:ext uri="{FF2B5EF4-FFF2-40B4-BE49-F238E27FC236}">
                <a16:creationId xmlns:a16="http://schemas.microsoft.com/office/drawing/2014/main" id="{B129490A-2886-E50A-2F5F-7DDD08358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45" name="Image 4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5489148-D934-6BDC-B25E-CDD0DF1F6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  <p:sp>
        <p:nvSpPr>
          <p:cNvPr id="34" name="Text 2">
            <a:extLst>
              <a:ext uri="{FF2B5EF4-FFF2-40B4-BE49-F238E27FC236}">
                <a16:creationId xmlns:a16="http://schemas.microsoft.com/office/drawing/2014/main" id="{3CE2EA73-C383-7C6E-D6BC-909C1EE01CFA}"/>
              </a:ext>
            </a:extLst>
          </p:cNvPr>
          <p:cNvSpPr/>
          <p:nvPr/>
        </p:nvSpPr>
        <p:spPr>
          <a:xfrm>
            <a:off x="1051560" y="686453"/>
            <a:ext cx="8229600" cy="392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8B5CF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8B5CF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8B5CF6"/>
              </a:solidFill>
              <a:latin typeface="Trebuchet MS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8B5CF6"/>
              </a:solidFill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8515138-B043-11E9-65D1-73B4340DE856}"/>
              </a:ext>
            </a:extLst>
          </p:cNvPr>
          <p:cNvGrpSpPr/>
          <p:nvPr/>
        </p:nvGrpSpPr>
        <p:grpSpPr>
          <a:xfrm>
            <a:off x="457200" y="1069517"/>
            <a:ext cx="3616960" cy="699367"/>
            <a:chOff x="457200" y="1371600"/>
            <a:chExt cx="8229600" cy="1014984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CFDDD80D-2451-2C7F-6B2E-A5C92EC6F634}"/>
                </a:ext>
              </a:extLst>
            </p:cNvPr>
            <p:cNvSpPr/>
            <p:nvPr/>
          </p:nvSpPr>
          <p:spPr>
            <a:xfrm>
              <a:off x="457200" y="1371600"/>
              <a:ext cx="8229600" cy="1005839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18D31A99-4B47-2DC5-B332-4412053D8F43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CB67E153-4E8C-B30F-90F3-3B7DD5377924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endParaRPr>
            </a:p>
            <a:p>
              <a:pPr algn="ctr"/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1. 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Rappel &amp;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Gouvernance</a:t>
              </a:r>
              <a:endParaRPr lang="en-US" sz="1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endParaRPr>
            </a:p>
            <a:p>
              <a:pPr marL="0" indent="0" algn="ctr">
                <a:buNone/>
              </a:pPr>
              <a:endParaRPr lang="en-US" sz="1600" dirty="0"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058C4FF-F69B-5467-C72A-5BB432C584AB}"/>
              </a:ext>
            </a:extLst>
          </p:cNvPr>
          <p:cNvGrpSpPr/>
          <p:nvPr/>
        </p:nvGrpSpPr>
        <p:grpSpPr>
          <a:xfrm>
            <a:off x="457200" y="1808858"/>
            <a:ext cx="3616960" cy="699366"/>
            <a:chOff x="457200" y="1371600"/>
            <a:chExt cx="8229600" cy="1014984"/>
          </a:xfrm>
        </p:grpSpPr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6B4EAF2E-C946-2F87-4934-2CC829A47998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BF872A66-0F5B-D8EB-D1CA-460F28325658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47FB14F4-A2A3-68CE-0E68-CE68A566B51C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</a:rPr>
                <a:t>2.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Contraintes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</a:rPr>
                <a:t> du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projet</a:t>
              </a:r>
              <a:endParaRPr lang="en-US" sz="1600" b="1" dirty="0">
                <a:solidFill>
                  <a:schemeClr val="bg1"/>
                </a:solidFill>
                <a:latin typeface="Trebuchet MS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33F9CAA-0FAD-58B6-D4FB-3275ABBD9E33}"/>
              </a:ext>
            </a:extLst>
          </p:cNvPr>
          <p:cNvGrpSpPr/>
          <p:nvPr/>
        </p:nvGrpSpPr>
        <p:grpSpPr>
          <a:xfrm>
            <a:off x="457200" y="2542897"/>
            <a:ext cx="3616960" cy="698700"/>
            <a:chOff x="457200" y="1371600"/>
            <a:chExt cx="8229600" cy="1014984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5B4D20F7-AD97-D268-70D7-D447CA868D40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17" name="Shape 5">
              <a:extLst>
                <a:ext uri="{FF2B5EF4-FFF2-40B4-BE49-F238E27FC236}">
                  <a16:creationId xmlns:a16="http://schemas.microsoft.com/office/drawing/2014/main" id="{17327CA6-0713-08D2-EB12-9D66D3884A8A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B985FBFF-A678-6052-C6CA-BB1492BAB4A5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</a:rPr>
                <a:t>3. 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</a:rPr>
                <a:t>Choix techniques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68C016AA-F8A6-D1A2-65B4-FFA3C0F09579}"/>
              </a:ext>
            </a:extLst>
          </p:cNvPr>
          <p:cNvGrpSpPr/>
          <p:nvPr/>
        </p:nvGrpSpPr>
        <p:grpSpPr>
          <a:xfrm>
            <a:off x="457200" y="3269975"/>
            <a:ext cx="3616960" cy="703465"/>
            <a:chOff x="457200" y="1371600"/>
            <a:chExt cx="8229600" cy="1014984"/>
          </a:xfrm>
        </p:grpSpPr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54545544-3CD6-80F0-24E6-3FA31C116C59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23" name="Shape 5">
              <a:extLst>
                <a:ext uri="{FF2B5EF4-FFF2-40B4-BE49-F238E27FC236}">
                  <a16:creationId xmlns:a16="http://schemas.microsoft.com/office/drawing/2014/main" id="{A5487790-C0E7-6674-E5C4-265FBDDBDD5E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E7E03CCA-F97A-5C03-AA4B-B74E01D4E41A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</a:rPr>
                <a:t>4.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Respondable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Sécurité</a:t>
              </a:r>
              <a:endParaRPr lang="en-US" sz="1600" b="1" dirty="0">
                <a:solidFill>
                  <a:schemeClr val="bg1"/>
                </a:solidFill>
                <a:latin typeface="Trebuchet MS" pitchFamily="34" charset="0"/>
              </a:endParaRP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60085237-80F3-A1E5-DD2E-11EFDFA83D38}"/>
              </a:ext>
            </a:extLst>
          </p:cNvPr>
          <p:cNvGrpSpPr/>
          <p:nvPr/>
        </p:nvGrpSpPr>
        <p:grpSpPr>
          <a:xfrm>
            <a:off x="457200" y="4008160"/>
            <a:ext cx="3616960" cy="701964"/>
            <a:chOff x="457200" y="1371600"/>
            <a:chExt cx="8229600" cy="1014984"/>
          </a:xfrm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2236D9B5-0FCE-BA98-08C9-BD165CBA96BC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E13C5B3D-6035-EC4A-BD8D-F858F7E500D8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BEFEADF4-401B-5E49-275F-B1559E78C111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</a:rPr>
                <a:t>5.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Sécurité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</a:rPr>
                <a:t> du Backend</a:t>
              </a:r>
            </a:p>
            <a:p>
              <a:pPr marL="0" indent="0" algn="ctr">
                <a:buNone/>
              </a:pPr>
              <a:endParaRPr lang="en-US" sz="1600" dirty="0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BFB76CC2-AC6D-DDA6-DE24-0DDEFBAA9C21}"/>
              </a:ext>
            </a:extLst>
          </p:cNvPr>
          <p:cNvGrpSpPr/>
          <p:nvPr/>
        </p:nvGrpSpPr>
        <p:grpSpPr>
          <a:xfrm>
            <a:off x="5114290" y="1461617"/>
            <a:ext cx="3616960" cy="693065"/>
            <a:chOff x="457200" y="1371600"/>
            <a:chExt cx="8229600" cy="1014984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81DE690B-7B02-572B-7AB5-0B9AC3F4F67B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32" name="Shape 5">
              <a:extLst>
                <a:ext uri="{FF2B5EF4-FFF2-40B4-BE49-F238E27FC236}">
                  <a16:creationId xmlns:a16="http://schemas.microsoft.com/office/drawing/2014/main" id="{91BD0E8B-8B4A-93FB-1BB1-C5395FB1663A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454652D1-A199-A063-4B5E-5A72548BB4F2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</a:rPr>
                <a:t>6.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Sécurité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</a:rPr>
                <a:t> du Frontend</a:t>
              </a:r>
            </a:p>
            <a:p>
              <a:pPr marL="0" indent="0" algn="ctr">
                <a:buNone/>
              </a:pPr>
              <a:endParaRPr lang="en-US" sz="1600" dirty="0"/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5D327031-9262-492E-4CC9-75C4900F5338}"/>
              </a:ext>
            </a:extLst>
          </p:cNvPr>
          <p:cNvGrpSpPr/>
          <p:nvPr/>
        </p:nvGrpSpPr>
        <p:grpSpPr>
          <a:xfrm>
            <a:off x="5114290" y="2189882"/>
            <a:ext cx="3616960" cy="695591"/>
            <a:chOff x="457200" y="1371600"/>
            <a:chExt cx="8229600" cy="1014984"/>
          </a:xfrm>
        </p:grpSpPr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8F22E5B7-E8CD-345A-E94B-C747B9717C26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37" name="Shape 5">
              <a:extLst>
                <a:ext uri="{FF2B5EF4-FFF2-40B4-BE49-F238E27FC236}">
                  <a16:creationId xmlns:a16="http://schemas.microsoft.com/office/drawing/2014/main" id="{E6F7EC01-531C-AB43-DDC2-D0BF4EB3F963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ED1CA919-AC83-14E0-4EA5-F7EF07EB28AB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</a:rPr>
                <a:t>7.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Sécurité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</a:rPr>
                <a:t> des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</a:rPr>
                <a:t>paiements</a:t>
              </a:r>
              <a:endParaRPr lang="en-US" sz="1600" b="1" dirty="0">
                <a:solidFill>
                  <a:schemeClr val="bg1"/>
                </a:solidFill>
                <a:latin typeface="Trebuchet MS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D6719B7E-E020-DBC0-C74E-C2EC8BF6B8FE}"/>
              </a:ext>
            </a:extLst>
          </p:cNvPr>
          <p:cNvGrpSpPr/>
          <p:nvPr/>
        </p:nvGrpSpPr>
        <p:grpSpPr>
          <a:xfrm>
            <a:off x="5114290" y="2926175"/>
            <a:ext cx="3616960" cy="707296"/>
            <a:chOff x="457200" y="1371600"/>
            <a:chExt cx="8229600" cy="1014984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3994EB9A-B6B0-C017-E42D-0C0223D73596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63AC3EAC-29E7-DBC5-6DC7-328FEA7FACE9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DC054364-C977-EB37-C9A3-FCB1CC8CADF3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8. 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Contribution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globale</a:t>
              </a:r>
              <a:r>
                <a:rPr lang="en-US" sz="16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&amp; Vision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Sécurité</a:t>
              </a:r>
              <a:endParaRPr lang="en-US" sz="1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endParaRPr>
            </a:p>
            <a:p>
              <a:pPr marL="0" indent="0" algn="ctr">
                <a:buNone/>
              </a:pPr>
              <a:endParaRPr lang="en-US" sz="1600" dirty="0"/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D994673A-1FAF-A0D8-5A1B-A785F12D9977}"/>
              </a:ext>
            </a:extLst>
          </p:cNvPr>
          <p:cNvGrpSpPr/>
          <p:nvPr/>
        </p:nvGrpSpPr>
        <p:grpSpPr>
          <a:xfrm>
            <a:off x="5114290" y="3678665"/>
            <a:ext cx="3616960" cy="707296"/>
            <a:chOff x="457200" y="1371600"/>
            <a:chExt cx="8229600" cy="1014984"/>
          </a:xfrm>
        </p:grpSpPr>
        <p:sp>
          <p:nvSpPr>
            <p:cNvPr id="47" name="Shape 4">
              <a:extLst>
                <a:ext uri="{FF2B5EF4-FFF2-40B4-BE49-F238E27FC236}">
                  <a16:creationId xmlns:a16="http://schemas.microsoft.com/office/drawing/2014/main" id="{016F7315-CB93-952B-0611-403A7A8E6E39}"/>
                </a:ext>
              </a:extLst>
            </p:cNvPr>
            <p:cNvSpPr/>
            <p:nvPr/>
          </p:nvSpPr>
          <p:spPr>
            <a:xfrm>
              <a:off x="457200" y="1371600"/>
              <a:ext cx="8229600" cy="1005840"/>
            </a:xfrm>
            <a:prstGeom prst="rect">
              <a:avLst/>
            </a:prstGeom>
            <a:solidFill>
              <a:srgbClr val="161E35"/>
            </a:solidFill>
            <a:ln/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pPr algn="ctr"/>
              <a:endParaRPr lang="fr-FR" dirty="0"/>
            </a:p>
          </p:txBody>
        </p:sp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B3AEEF2B-7BC8-96ED-413E-CA989D637387}"/>
                </a:ext>
              </a:extLst>
            </p:cNvPr>
            <p:cNvSpPr/>
            <p:nvPr/>
          </p:nvSpPr>
          <p:spPr>
            <a:xfrm>
              <a:off x="457200" y="1371600"/>
              <a:ext cx="8229600" cy="54864"/>
            </a:xfrm>
            <a:prstGeom prst="rect">
              <a:avLst/>
            </a:prstGeom>
            <a:solidFill>
              <a:srgbClr val="6B21A8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 6">
              <a:extLst>
                <a:ext uri="{FF2B5EF4-FFF2-40B4-BE49-F238E27FC236}">
                  <a16:creationId xmlns:a16="http://schemas.microsoft.com/office/drawing/2014/main" id="{9627C5C6-E9FB-6AC2-9385-16BA6F8E483E}"/>
                </a:ext>
              </a:extLst>
            </p:cNvPr>
            <p:cNvSpPr/>
            <p:nvPr/>
          </p:nvSpPr>
          <p:spPr>
            <a:xfrm>
              <a:off x="457200" y="1371600"/>
              <a:ext cx="8229600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1600" b="1" dirty="0">
                  <a:solidFill>
                    <a:srgbClr val="8B5CF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9. </a:t>
              </a:r>
              <a:r>
                <a:rPr lang="en-US" sz="1600" b="1" dirty="0" err="1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Récapitulatif</a:t>
              </a:r>
              <a:endParaRPr lang="en-US" sz="1600" dirty="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9264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EEF3B19A-C4E1-7B54-1813-8D0648FA2D93}"/>
              </a:ext>
            </a:extLst>
          </p:cNvPr>
          <p:cNvSpPr/>
          <p:nvPr/>
        </p:nvSpPr>
        <p:spPr>
          <a:xfrm>
            <a:off x="365760" y="3208238"/>
            <a:ext cx="1682496" cy="1531620"/>
          </a:xfrm>
          <a:prstGeom prst="rect">
            <a:avLst/>
          </a:prstGeom>
          <a:solidFill>
            <a:srgbClr val="CC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C0066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094C71-D9CD-87CE-2779-58B31536E2D4}"/>
              </a:ext>
            </a:extLst>
          </p:cNvPr>
          <p:cNvSpPr/>
          <p:nvPr/>
        </p:nvSpPr>
        <p:spPr>
          <a:xfrm>
            <a:off x="2048256" y="3208238"/>
            <a:ext cx="1682496" cy="1531620"/>
          </a:xfrm>
          <a:prstGeom prst="rect">
            <a:avLst/>
          </a:prstGeom>
          <a:solidFill>
            <a:srgbClr val="8B5C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8B5CF6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EE37C16-90E8-B890-FCD6-89F5FAB751A2}"/>
              </a:ext>
            </a:extLst>
          </p:cNvPr>
          <p:cNvSpPr/>
          <p:nvPr/>
        </p:nvSpPr>
        <p:spPr>
          <a:xfrm>
            <a:off x="3730752" y="3208238"/>
            <a:ext cx="1682496" cy="15316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615B6F2-F66D-D122-0F3A-57671CD583A5}"/>
              </a:ext>
            </a:extLst>
          </p:cNvPr>
          <p:cNvSpPr/>
          <p:nvPr/>
        </p:nvSpPr>
        <p:spPr>
          <a:xfrm>
            <a:off x="5413248" y="3208238"/>
            <a:ext cx="1682496" cy="1531620"/>
          </a:xfrm>
          <a:prstGeom prst="rect">
            <a:avLst/>
          </a:prstGeom>
          <a:solidFill>
            <a:srgbClr val="3A0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195E522-4936-5A4F-ADB4-73FD9A242252}"/>
              </a:ext>
            </a:extLst>
          </p:cNvPr>
          <p:cNvSpPr/>
          <p:nvPr/>
        </p:nvSpPr>
        <p:spPr>
          <a:xfrm>
            <a:off x="7095744" y="3208238"/>
            <a:ext cx="1682496" cy="15316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RAPPEL &amp; GOUVERNANCE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rapide et répartition des rôles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e-commerce SaaS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cybersécurité (SOC, EDR, XDR)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destinée aux entreprises.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19897" y="1280160"/>
            <a:ext cx="4114800" cy="164592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2" name="Shape 9"/>
          <p:cNvSpPr/>
          <p:nvPr/>
        </p:nvSpPr>
        <p:spPr>
          <a:xfrm>
            <a:off x="4619897" y="1272322"/>
            <a:ext cx="4114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8074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&amp; Rôles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801368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175453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583680" y="174088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093976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20528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6583680" y="205899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386584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233975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</a:t>
            </a:r>
            <a:endParaRPr lang="en-US" sz="1100" dirty="0">
              <a:solidFill>
                <a:srgbClr val="8B5CF6"/>
              </a:solidFill>
            </a:endParaRPr>
          </a:p>
        </p:txBody>
      </p:sp>
      <p:sp>
        <p:nvSpPr>
          <p:cNvPr id="23" name="Text 16"/>
          <p:cNvSpPr/>
          <p:nvPr/>
        </p:nvSpPr>
        <p:spPr>
          <a:xfrm>
            <a:off x="6583680" y="233728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79192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12080" y="2630751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583680" y="2634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365760" y="3200400"/>
            <a:ext cx="841248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1"/>
          <p:cNvSpPr/>
          <p:nvPr/>
        </p:nvSpPr>
        <p:spPr>
          <a:xfrm>
            <a:off x="59436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43" name="Image 0" descr="/home/claude/logo_cyna.png">
            <a:extLst>
              <a:ext uri="{FF2B5EF4-FFF2-40B4-BE49-F238E27FC236}">
                <a16:creationId xmlns:a16="http://schemas.microsoft.com/office/drawing/2014/main" id="{1A72B3F5-5278-D2FA-28FF-56CB549C2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45" name="Image 4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0BB0FC6A-4C9A-0883-0F31-E0F4351CAF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  <p:pic>
        <p:nvPicPr>
          <p:cNvPr id="73" name="Graphique 72" descr="Panneau de signalisation avec un remplissage uni">
            <a:extLst>
              <a:ext uri="{FF2B5EF4-FFF2-40B4-BE49-F238E27FC236}">
                <a16:creationId xmlns:a16="http://schemas.microsoft.com/office/drawing/2014/main" id="{CD674E33-D016-4971-3E52-1ED53817AB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9438" y="3409421"/>
            <a:ext cx="995141" cy="995141"/>
          </a:xfrm>
          <a:prstGeom prst="rect">
            <a:avLst/>
          </a:prstGeom>
        </p:spPr>
      </p:pic>
      <p:sp>
        <p:nvSpPr>
          <p:cNvPr id="74" name="Text 11">
            <a:extLst>
              <a:ext uri="{FF2B5EF4-FFF2-40B4-BE49-F238E27FC236}">
                <a16:creationId xmlns:a16="http://schemas.microsoft.com/office/drawing/2014/main" id="{A3785356-DC7B-8442-7C80-04E9295E534D}"/>
              </a:ext>
            </a:extLst>
          </p:cNvPr>
          <p:cNvSpPr/>
          <p:nvPr/>
        </p:nvSpPr>
        <p:spPr>
          <a:xfrm>
            <a:off x="571247" y="4344318"/>
            <a:ext cx="1268623" cy="29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A226EBB0-531B-7726-42B0-423B669A3E7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4200393" y="3575801"/>
            <a:ext cx="731520" cy="731520"/>
          </a:xfrm>
          <a:prstGeom prst="rect">
            <a:avLst/>
          </a:prstGeom>
        </p:spPr>
      </p:pic>
      <p:sp>
        <p:nvSpPr>
          <p:cNvPr id="76" name="Text 11">
            <a:extLst>
              <a:ext uri="{FF2B5EF4-FFF2-40B4-BE49-F238E27FC236}">
                <a16:creationId xmlns:a16="http://schemas.microsoft.com/office/drawing/2014/main" id="{E3A3D309-EAC2-D5BD-7AD1-EC0ABC0FBA95}"/>
              </a:ext>
            </a:extLst>
          </p:cNvPr>
          <p:cNvSpPr/>
          <p:nvPr/>
        </p:nvSpPr>
        <p:spPr>
          <a:xfrm>
            <a:off x="4139084" y="4344318"/>
            <a:ext cx="851046" cy="29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7" name="Image 0" descr="preencoded.png">
            <a:extLst>
              <a:ext uri="{FF2B5EF4-FFF2-40B4-BE49-F238E27FC236}">
                <a16:creationId xmlns:a16="http://schemas.microsoft.com/office/drawing/2014/main" id="{74EF3CA1-562E-B34C-8610-A9969D9AA08C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25000"/>
          </a:blip>
          <a:stretch>
            <a:fillRect/>
          </a:stretch>
        </p:blipFill>
        <p:spPr>
          <a:xfrm>
            <a:off x="5856732" y="3569954"/>
            <a:ext cx="795528" cy="795528"/>
          </a:xfrm>
          <a:prstGeom prst="rect">
            <a:avLst/>
          </a:prstGeom>
        </p:spPr>
      </p:pic>
      <p:sp>
        <p:nvSpPr>
          <p:cNvPr id="78" name="Text 11">
            <a:extLst>
              <a:ext uri="{FF2B5EF4-FFF2-40B4-BE49-F238E27FC236}">
                <a16:creationId xmlns:a16="http://schemas.microsoft.com/office/drawing/2014/main" id="{01ED82CB-03DE-AE11-BF3A-155C24E4A2CE}"/>
              </a:ext>
            </a:extLst>
          </p:cNvPr>
          <p:cNvSpPr/>
          <p:nvPr/>
        </p:nvSpPr>
        <p:spPr>
          <a:xfrm>
            <a:off x="5827927" y="4321715"/>
            <a:ext cx="851046" cy="29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30A385FF-484B-7AC2-484A-0056A782B6F3}"/>
              </a:ext>
            </a:extLst>
          </p:cNvPr>
          <p:cNvSpPr/>
          <p:nvPr/>
        </p:nvSpPr>
        <p:spPr>
          <a:xfrm>
            <a:off x="7383624" y="4317480"/>
            <a:ext cx="1113453" cy="29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4" name="Image 1" descr="preencoded.png">
            <a:extLst>
              <a:ext uri="{FF2B5EF4-FFF2-40B4-BE49-F238E27FC236}">
                <a16:creationId xmlns:a16="http://schemas.microsoft.com/office/drawing/2014/main" id="{B2703C83-BA72-4228-321F-E7F0C7ADA0DA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25000"/>
          </a:blip>
          <a:stretch>
            <a:fillRect/>
          </a:stretch>
        </p:blipFill>
        <p:spPr>
          <a:xfrm>
            <a:off x="2523744" y="3575801"/>
            <a:ext cx="725673" cy="725673"/>
          </a:xfrm>
          <a:prstGeom prst="rect">
            <a:avLst/>
          </a:prstGeom>
        </p:spPr>
      </p:pic>
      <p:sp>
        <p:nvSpPr>
          <p:cNvPr id="85" name="Text 11">
            <a:extLst>
              <a:ext uri="{FF2B5EF4-FFF2-40B4-BE49-F238E27FC236}">
                <a16:creationId xmlns:a16="http://schemas.microsoft.com/office/drawing/2014/main" id="{D903920F-B384-C880-406B-31BD8418535C}"/>
              </a:ext>
            </a:extLst>
          </p:cNvPr>
          <p:cNvSpPr/>
          <p:nvPr/>
        </p:nvSpPr>
        <p:spPr>
          <a:xfrm>
            <a:off x="2459736" y="4344318"/>
            <a:ext cx="851046" cy="29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1993A81F-9C6B-C97E-31E0-A90823F0C200}"/>
              </a:ext>
            </a:extLst>
          </p:cNvPr>
          <p:cNvSpPr/>
          <p:nvPr/>
        </p:nvSpPr>
        <p:spPr>
          <a:xfrm>
            <a:off x="3527581" y="2982974"/>
            <a:ext cx="1905957" cy="267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Ma participation au </a:t>
            </a:r>
            <a:r>
              <a:rPr lang="en-US" sz="1200" b="1" dirty="0" err="1">
                <a:solidFill>
                  <a:srgbClr val="FFFFFF"/>
                </a:solidFill>
                <a:latin typeface="Trebuchet MS" pitchFamily="34" charset="0"/>
              </a:rPr>
              <a:t>projet</a:t>
            </a:r>
            <a:endParaRPr lang="en-US" sz="120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031404BD-4143-F04C-BCC5-5FA341DA4E5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25000"/>
          </a:blip>
          <a:stretch>
            <a:fillRect/>
          </a:stretch>
        </p:blipFill>
        <p:spPr>
          <a:xfrm>
            <a:off x="7600037" y="3569954"/>
            <a:ext cx="795528" cy="795528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CONTRAINTES DU PROJET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doit respecter avant de choisir nos technologies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recherche &lt; 100ms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2996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 mobile-first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1401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SOLID respectés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9806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avec commits structurés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FONCTIONNELLES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4592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WCAG 2.1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29968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5780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i18n + RTL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14016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accessible sans connexion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98064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57800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PCI-DSS via Stripe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4434840" y="1645920"/>
            <a:ext cx="0" cy="1371600"/>
          </a:xfrm>
          <a:prstGeom prst="line">
            <a:avLst/>
          </a:prstGeom>
          <a:noFill/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5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6"/>
          <p:cNvSpPr/>
          <p:nvPr/>
        </p:nvSpPr>
        <p:spPr>
          <a:xfrm>
            <a:off x="457200" y="3474720"/>
            <a:ext cx="1828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17"/>
          <p:cNvSpPr/>
          <p:nvPr/>
        </p:nvSpPr>
        <p:spPr>
          <a:xfrm>
            <a:off x="457200" y="34930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18"/>
          <p:cNvSpPr/>
          <p:nvPr/>
        </p:nvSpPr>
        <p:spPr>
          <a:xfrm>
            <a:off x="1280160" y="34930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2560320" y="3474720"/>
            <a:ext cx="1828800" cy="64008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0"/>
          <p:cNvSpPr/>
          <p:nvPr/>
        </p:nvSpPr>
        <p:spPr>
          <a:xfrm>
            <a:off x="2560320" y="3474720"/>
            <a:ext cx="1828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1"/>
          <p:cNvSpPr/>
          <p:nvPr/>
        </p:nvSpPr>
        <p:spPr>
          <a:xfrm>
            <a:off x="2560320" y="34930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400" dirty="0"/>
          </a:p>
        </p:txBody>
      </p:sp>
      <p:sp>
        <p:nvSpPr>
          <p:cNvPr id="32" name="Text 22"/>
          <p:cNvSpPr/>
          <p:nvPr/>
        </p:nvSpPr>
        <p:spPr>
          <a:xfrm>
            <a:off x="3383280" y="34930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4663440" y="3474720"/>
            <a:ext cx="1828800" cy="64008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4"/>
          <p:cNvSpPr/>
          <p:nvPr/>
        </p:nvSpPr>
        <p:spPr>
          <a:xfrm>
            <a:off x="4663440" y="3474720"/>
            <a:ext cx="1828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25"/>
          <p:cNvSpPr/>
          <p:nvPr/>
        </p:nvSpPr>
        <p:spPr>
          <a:xfrm>
            <a:off x="4663440" y="34930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Text 26"/>
          <p:cNvSpPr/>
          <p:nvPr/>
        </p:nvSpPr>
        <p:spPr>
          <a:xfrm>
            <a:off x="5486400" y="34930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6766560" y="3474720"/>
            <a:ext cx="1828800" cy="64008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28"/>
          <p:cNvSpPr/>
          <p:nvPr/>
        </p:nvSpPr>
        <p:spPr>
          <a:xfrm>
            <a:off x="6766560" y="3474720"/>
            <a:ext cx="18288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29"/>
          <p:cNvSpPr/>
          <p:nvPr/>
        </p:nvSpPr>
        <p:spPr>
          <a:xfrm>
            <a:off x="6766560" y="34930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~450</a:t>
            </a:r>
            <a:endParaRPr lang="en-US" sz="2400" dirty="0"/>
          </a:p>
        </p:txBody>
      </p:sp>
      <p:sp>
        <p:nvSpPr>
          <p:cNvPr id="40" name="Text 30"/>
          <p:cNvSpPr/>
          <p:nvPr/>
        </p:nvSpPr>
        <p:spPr>
          <a:xfrm>
            <a:off x="7680960" y="351340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équipe</a:t>
            </a:r>
            <a:endParaRPr lang="en-US" sz="1050" dirty="0"/>
          </a:p>
        </p:txBody>
      </p:sp>
      <p:pic>
        <p:nvPicPr>
          <p:cNvPr id="42" name="Image 0" descr="/home/claude/logo_cyna.png">
            <a:extLst>
              <a:ext uri="{FF2B5EF4-FFF2-40B4-BE49-F238E27FC236}">
                <a16:creationId xmlns:a16="http://schemas.microsoft.com/office/drawing/2014/main" id="{2CE4A5DA-8C54-FD89-AC85-9FE7EC125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46" name="Image 4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C5893E5E-BE31-4BED-88E9-745BCFA2B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tenu des contraintes, voici nos technologies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(SPA)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83280" y="1508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SPA, composants réutilisables, mobile-first, large communauté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46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383280" y="2697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+ RLS intégrés, Edge Functions serverless, temps réel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457200" y="374904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233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383280" y="3886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natif, abonnements clé en main, webhooks fiables, sandbox gratuit</a:t>
            </a:r>
            <a:endParaRPr lang="en-US" sz="1250" dirty="0"/>
          </a:p>
        </p:txBody>
      </p:sp>
      <p:pic>
        <p:nvPicPr>
          <p:cNvPr id="22" name="Image 0" descr="/home/claude/logo_cyna.png">
            <a:extLst>
              <a:ext uri="{FF2B5EF4-FFF2-40B4-BE49-F238E27FC236}">
                <a16:creationId xmlns:a16="http://schemas.microsoft.com/office/drawing/2014/main" id="{31ED8C2E-F58E-B376-9098-37C025F34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1" name="Image 2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1EEE66F8-84F1-9A97-E4C6-CA3274605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Responsable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Saas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fiable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sécurisée</a:t>
            </a:r>
            <a:endParaRPr lang="en-US" sz="1400" dirty="0"/>
          </a:p>
        </p:txBody>
      </p:sp>
      <p:pic>
        <p:nvPicPr>
          <p:cNvPr id="24" name="Image 0" descr="/home/claude/logo_cyna.png">
            <a:extLst>
              <a:ext uri="{FF2B5EF4-FFF2-40B4-BE49-F238E27FC236}">
                <a16:creationId xmlns:a16="http://schemas.microsoft.com/office/drawing/2014/main" id="{00F2EB32-F4FE-DBFE-02F8-E93899E4F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6" name="Image 2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71D2566E-B1D6-0BDB-673C-DC314F7EF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  <p:grpSp>
        <p:nvGrpSpPr>
          <p:cNvPr id="136" name="Groupe 135">
            <a:extLst>
              <a:ext uri="{FF2B5EF4-FFF2-40B4-BE49-F238E27FC236}">
                <a16:creationId xmlns:a16="http://schemas.microsoft.com/office/drawing/2014/main" id="{C555F53A-250B-E242-B3F0-0BFD000B1DB3}"/>
              </a:ext>
            </a:extLst>
          </p:cNvPr>
          <p:cNvGrpSpPr/>
          <p:nvPr/>
        </p:nvGrpSpPr>
        <p:grpSpPr>
          <a:xfrm>
            <a:off x="1153422" y="1626267"/>
            <a:ext cx="6573520" cy="2510315"/>
            <a:chOff x="1249680" y="1502521"/>
            <a:chExt cx="6573520" cy="2510315"/>
          </a:xfrm>
        </p:grpSpPr>
        <p:sp>
          <p:nvSpPr>
            <p:cNvPr id="19" name="Text 12"/>
            <p:cNvSpPr/>
            <p:nvPr/>
          </p:nvSpPr>
          <p:spPr>
            <a:xfrm>
              <a:off x="1626870" y="3048508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300" dirty="0"/>
            </a:p>
          </p:txBody>
        </p: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6D99FCD0-AA20-87EF-ACD8-7D12028649CE}"/>
                </a:ext>
              </a:extLst>
            </p:cNvPr>
            <p:cNvGrpSpPr/>
            <p:nvPr/>
          </p:nvGrpSpPr>
          <p:grpSpPr>
            <a:xfrm>
              <a:off x="1249680" y="3371359"/>
              <a:ext cx="2540000" cy="641477"/>
              <a:chOff x="5943600" y="1039622"/>
              <a:chExt cx="1828800" cy="641477"/>
            </a:xfrm>
          </p:grpSpPr>
          <p:sp>
            <p:nvSpPr>
              <p:cNvPr id="52" name="Shape 15">
                <a:extLst>
                  <a:ext uri="{FF2B5EF4-FFF2-40B4-BE49-F238E27FC236}">
                    <a16:creationId xmlns:a16="http://schemas.microsoft.com/office/drawing/2014/main" id="{96FB1B05-BB7A-839E-73BE-7296C890CF78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640080"/>
              </a:xfrm>
              <a:prstGeom prst="rect">
                <a:avLst/>
              </a:prstGeom>
              <a:solidFill>
                <a:srgbClr val="161E35"/>
              </a:solidFill>
              <a:ln/>
              <a:effectLst>
                <a:outerShdw blurRad="50800" dist="25400" dir="8100000" algn="b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fr-FR" dirty="0"/>
              </a:p>
            </p:txBody>
          </p:sp>
          <p:sp>
            <p:nvSpPr>
              <p:cNvPr id="53" name="Shape 16">
                <a:extLst>
                  <a:ext uri="{FF2B5EF4-FFF2-40B4-BE49-F238E27FC236}">
                    <a16:creationId xmlns:a16="http://schemas.microsoft.com/office/drawing/2014/main" id="{B4DAF30D-6F38-F8A5-10B4-EF12E8FBDE04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54864"/>
              </a:xfrm>
              <a:prstGeom prst="rect">
                <a:avLst/>
              </a:prstGeom>
              <a:solidFill>
                <a:srgbClr val="6B21A8"/>
              </a:solidFill>
              <a:ln/>
            </p:spPr>
            <p:txBody>
              <a:bodyPr/>
              <a:lstStyle/>
              <a:p>
                <a:pPr algn="ctr"/>
                <a:endParaRPr lang="fr-FR"/>
              </a:p>
            </p:txBody>
          </p:sp>
          <p:sp>
            <p:nvSpPr>
              <p:cNvPr id="55" name="Text 18">
                <a:extLst>
                  <a:ext uri="{FF2B5EF4-FFF2-40B4-BE49-F238E27FC236}">
                    <a16:creationId xmlns:a16="http://schemas.microsoft.com/office/drawing/2014/main" id="{59F6D5E0-13E7-9B49-5BF9-6E1524D2A35A}"/>
                  </a:ext>
                </a:extLst>
              </p:cNvPr>
              <p:cNvSpPr/>
              <p:nvPr/>
            </p:nvSpPr>
            <p:spPr>
              <a:xfrm>
                <a:off x="5943600" y="1086739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endPara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algn="ctr"/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Conformité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 RGPD et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bonnes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 pratiques OWASP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050" dirty="0"/>
              </a:p>
              <a:p>
                <a:pPr marL="0" indent="0" algn="ctr">
                  <a:buNone/>
                </a:pPr>
                <a:endParaRPr lang="en-US" sz="1050" dirty="0"/>
              </a:p>
            </p:txBody>
          </p:sp>
        </p:grpSp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E9AEF5C3-4E4E-41AC-4C64-36CF858A2CC1}"/>
                </a:ext>
              </a:extLst>
            </p:cNvPr>
            <p:cNvGrpSpPr/>
            <p:nvPr/>
          </p:nvGrpSpPr>
          <p:grpSpPr>
            <a:xfrm>
              <a:off x="5283200" y="1502521"/>
              <a:ext cx="2540000" cy="641477"/>
              <a:chOff x="5943600" y="1039622"/>
              <a:chExt cx="1828800" cy="641477"/>
            </a:xfrm>
          </p:grpSpPr>
          <p:sp>
            <p:nvSpPr>
              <p:cNvPr id="79" name="Shape 15">
                <a:extLst>
                  <a:ext uri="{FF2B5EF4-FFF2-40B4-BE49-F238E27FC236}">
                    <a16:creationId xmlns:a16="http://schemas.microsoft.com/office/drawing/2014/main" id="{FB5A0836-4BF3-9110-C457-E50B0A96F099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640080"/>
              </a:xfrm>
              <a:prstGeom prst="rect">
                <a:avLst/>
              </a:prstGeom>
              <a:solidFill>
                <a:srgbClr val="161E35"/>
              </a:solidFill>
              <a:ln/>
              <a:effectLst>
                <a:outerShdw blurRad="50800" dist="25400" dir="8100000" algn="b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fr-FR" dirty="0"/>
              </a:p>
            </p:txBody>
          </p:sp>
          <p:sp>
            <p:nvSpPr>
              <p:cNvPr id="80" name="Shape 16">
                <a:extLst>
                  <a:ext uri="{FF2B5EF4-FFF2-40B4-BE49-F238E27FC236}">
                    <a16:creationId xmlns:a16="http://schemas.microsoft.com/office/drawing/2014/main" id="{66DD9560-17DB-61CA-9F27-D8E0FF3E188B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54864"/>
              </a:xfrm>
              <a:prstGeom prst="rect">
                <a:avLst/>
              </a:prstGeom>
              <a:solidFill>
                <a:srgbClr val="6B21A8"/>
              </a:solidFill>
              <a:ln/>
            </p:spPr>
            <p:txBody>
              <a:bodyPr/>
              <a:lstStyle/>
              <a:p>
                <a:pPr algn="ctr"/>
                <a:endParaRPr lang="fr-FR"/>
              </a:p>
            </p:txBody>
          </p:sp>
          <p:sp>
            <p:nvSpPr>
              <p:cNvPr id="81" name="Text 18">
                <a:extLst>
                  <a:ext uri="{FF2B5EF4-FFF2-40B4-BE49-F238E27FC236}">
                    <a16:creationId xmlns:a16="http://schemas.microsoft.com/office/drawing/2014/main" id="{C4638A85-3C29-C502-DD17-0822EA7BC44F}"/>
                  </a:ext>
                </a:extLst>
              </p:cNvPr>
              <p:cNvSpPr/>
              <p:nvPr/>
            </p:nvSpPr>
            <p:spPr>
              <a:xfrm>
                <a:off x="5943600" y="1086739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endPara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algn="ctr"/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Authentification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et gestion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d’accès</a:t>
                </a:r>
                <a:endParaRPr lang="en-US" sz="1050" dirty="0"/>
              </a:p>
              <a:p>
                <a:pPr marL="0" indent="0" algn="ctr">
                  <a:buNone/>
                </a:pPr>
                <a:endParaRPr lang="en-US" sz="1050" dirty="0"/>
              </a:p>
            </p:txBody>
          </p:sp>
        </p:grpSp>
        <p:grpSp>
          <p:nvGrpSpPr>
            <p:cNvPr id="82" name="Groupe 81">
              <a:extLst>
                <a:ext uri="{FF2B5EF4-FFF2-40B4-BE49-F238E27FC236}">
                  <a16:creationId xmlns:a16="http://schemas.microsoft.com/office/drawing/2014/main" id="{6FA45976-71AD-FBB0-B476-F1C948579812}"/>
                </a:ext>
              </a:extLst>
            </p:cNvPr>
            <p:cNvGrpSpPr/>
            <p:nvPr/>
          </p:nvGrpSpPr>
          <p:grpSpPr>
            <a:xfrm>
              <a:off x="5283200" y="2420136"/>
              <a:ext cx="2540000" cy="641477"/>
              <a:chOff x="5943600" y="1039622"/>
              <a:chExt cx="1828800" cy="641477"/>
            </a:xfrm>
          </p:grpSpPr>
          <p:sp>
            <p:nvSpPr>
              <p:cNvPr id="83" name="Shape 15">
                <a:extLst>
                  <a:ext uri="{FF2B5EF4-FFF2-40B4-BE49-F238E27FC236}">
                    <a16:creationId xmlns:a16="http://schemas.microsoft.com/office/drawing/2014/main" id="{D7356A6F-F57F-22E9-8310-EE4411DED1DA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640080"/>
              </a:xfrm>
              <a:prstGeom prst="rect">
                <a:avLst/>
              </a:prstGeom>
              <a:solidFill>
                <a:srgbClr val="161E35"/>
              </a:solidFill>
              <a:ln/>
              <a:effectLst>
                <a:outerShdw blurRad="50800" dist="25400" dir="8100000" algn="b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fr-FR" dirty="0"/>
              </a:p>
            </p:txBody>
          </p:sp>
          <p:sp>
            <p:nvSpPr>
              <p:cNvPr id="84" name="Shape 16">
                <a:extLst>
                  <a:ext uri="{FF2B5EF4-FFF2-40B4-BE49-F238E27FC236}">
                    <a16:creationId xmlns:a16="http://schemas.microsoft.com/office/drawing/2014/main" id="{81EBE179-8544-07EA-B72F-AF29991C0222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54864"/>
              </a:xfrm>
              <a:prstGeom prst="rect">
                <a:avLst/>
              </a:prstGeom>
              <a:solidFill>
                <a:srgbClr val="6B21A8"/>
              </a:solidFill>
              <a:ln/>
            </p:spPr>
            <p:txBody>
              <a:bodyPr/>
              <a:lstStyle/>
              <a:p>
                <a:pPr algn="ctr"/>
                <a:endParaRPr lang="fr-FR"/>
              </a:p>
            </p:txBody>
          </p:sp>
          <p:sp>
            <p:nvSpPr>
              <p:cNvPr id="85" name="Text 18">
                <a:extLst>
                  <a:ext uri="{FF2B5EF4-FFF2-40B4-BE49-F238E27FC236}">
                    <a16:creationId xmlns:a16="http://schemas.microsoft.com/office/drawing/2014/main" id="{9B38AF0D-6615-E2E0-D22A-2C08DEC4D4AF}"/>
                  </a:ext>
                </a:extLst>
              </p:cNvPr>
              <p:cNvSpPr/>
              <p:nvPr/>
            </p:nvSpPr>
            <p:spPr>
              <a:xfrm>
                <a:off x="5943600" y="1086739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Protection des données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utilisateurs</a:t>
                </a:r>
                <a:endParaRPr lang="en-US" sz="1050" dirty="0"/>
              </a:p>
            </p:txBody>
          </p:sp>
        </p:grpSp>
        <p:grpSp>
          <p:nvGrpSpPr>
            <p:cNvPr id="86" name="Groupe 85">
              <a:extLst>
                <a:ext uri="{FF2B5EF4-FFF2-40B4-BE49-F238E27FC236}">
                  <a16:creationId xmlns:a16="http://schemas.microsoft.com/office/drawing/2014/main" id="{ECE0BF2C-396E-0EE4-407A-E920CF184DE6}"/>
                </a:ext>
              </a:extLst>
            </p:cNvPr>
            <p:cNvGrpSpPr/>
            <p:nvPr/>
          </p:nvGrpSpPr>
          <p:grpSpPr>
            <a:xfrm>
              <a:off x="5283200" y="3371359"/>
              <a:ext cx="2540000" cy="641477"/>
              <a:chOff x="5943600" y="1039622"/>
              <a:chExt cx="1828800" cy="641477"/>
            </a:xfrm>
          </p:grpSpPr>
          <p:sp>
            <p:nvSpPr>
              <p:cNvPr id="87" name="Shape 15">
                <a:extLst>
                  <a:ext uri="{FF2B5EF4-FFF2-40B4-BE49-F238E27FC236}">
                    <a16:creationId xmlns:a16="http://schemas.microsoft.com/office/drawing/2014/main" id="{5CC966E8-ED83-F732-FFEC-9D7B77CB9C15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640080"/>
              </a:xfrm>
              <a:prstGeom prst="rect">
                <a:avLst/>
              </a:prstGeom>
              <a:solidFill>
                <a:srgbClr val="161E35"/>
              </a:solidFill>
              <a:ln/>
              <a:effectLst>
                <a:outerShdw blurRad="50800" dist="25400" dir="8100000" algn="b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fr-FR" dirty="0"/>
              </a:p>
            </p:txBody>
          </p:sp>
          <p:sp>
            <p:nvSpPr>
              <p:cNvPr id="88" name="Shape 16">
                <a:extLst>
                  <a:ext uri="{FF2B5EF4-FFF2-40B4-BE49-F238E27FC236}">
                    <a16:creationId xmlns:a16="http://schemas.microsoft.com/office/drawing/2014/main" id="{7801E0F7-1C76-4A66-DAE5-2EA8F25B3CFD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54864"/>
              </a:xfrm>
              <a:prstGeom prst="rect">
                <a:avLst/>
              </a:prstGeom>
              <a:solidFill>
                <a:srgbClr val="6B21A8"/>
              </a:solidFill>
              <a:ln/>
            </p:spPr>
            <p:txBody>
              <a:bodyPr/>
              <a:lstStyle/>
              <a:p>
                <a:pPr algn="ctr"/>
                <a:endParaRPr lang="fr-FR"/>
              </a:p>
            </p:txBody>
          </p:sp>
          <p:sp>
            <p:nvSpPr>
              <p:cNvPr id="89" name="Text 18">
                <a:extLst>
                  <a:ext uri="{FF2B5EF4-FFF2-40B4-BE49-F238E27FC236}">
                    <a16:creationId xmlns:a16="http://schemas.microsoft.com/office/drawing/2014/main" id="{85B0F714-0403-FC80-9672-9AE354486540}"/>
                  </a:ext>
                </a:extLst>
              </p:cNvPr>
              <p:cNvSpPr/>
              <p:nvPr/>
            </p:nvSpPr>
            <p:spPr>
              <a:xfrm>
                <a:off x="5943600" y="1086739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Support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sécurité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 Frontend &amp; Backend </a:t>
                </a:r>
                <a:endParaRPr lang="en-US" sz="1050" dirty="0"/>
              </a:p>
            </p:txBody>
          </p:sp>
        </p:grpSp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85765340-49F4-780A-8F9C-A705A0DA6CC8}"/>
                </a:ext>
              </a:extLst>
            </p:cNvPr>
            <p:cNvGrpSpPr/>
            <p:nvPr/>
          </p:nvGrpSpPr>
          <p:grpSpPr>
            <a:xfrm>
              <a:off x="1249680" y="2438337"/>
              <a:ext cx="2540000" cy="641477"/>
              <a:chOff x="5943600" y="1039622"/>
              <a:chExt cx="1828800" cy="641477"/>
            </a:xfrm>
          </p:grpSpPr>
          <p:sp>
            <p:nvSpPr>
              <p:cNvPr id="91" name="Shape 15">
                <a:extLst>
                  <a:ext uri="{FF2B5EF4-FFF2-40B4-BE49-F238E27FC236}">
                    <a16:creationId xmlns:a16="http://schemas.microsoft.com/office/drawing/2014/main" id="{01CA0398-D688-A549-5CE0-395DF2D0B98F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640080"/>
              </a:xfrm>
              <a:prstGeom prst="rect">
                <a:avLst/>
              </a:prstGeom>
              <a:solidFill>
                <a:srgbClr val="161E35"/>
              </a:solidFill>
              <a:ln/>
              <a:effectLst>
                <a:outerShdw blurRad="50800" dist="25400" dir="8100000" algn="b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fr-FR" dirty="0"/>
              </a:p>
            </p:txBody>
          </p:sp>
          <p:sp>
            <p:nvSpPr>
              <p:cNvPr id="92" name="Shape 16">
                <a:extLst>
                  <a:ext uri="{FF2B5EF4-FFF2-40B4-BE49-F238E27FC236}">
                    <a16:creationId xmlns:a16="http://schemas.microsoft.com/office/drawing/2014/main" id="{9D2DA630-7B52-AA57-B47E-B8E7C2CAA378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54864"/>
              </a:xfrm>
              <a:prstGeom prst="rect">
                <a:avLst/>
              </a:prstGeom>
              <a:solidFill>
                <a:srgbClr val="6B21A8"/>
              </a:solidFill>
              <a:ln/>
            </p:spPr>
            <p:txBody>
              <a:bodyPr/>
              <a:lstStyle/>
              <a:p>
                <a:pPr algn="ctr"/>
                <a:endParaRPr lang="fr-FR"/>
              </a:p>
            </p:txBody>
          </p:sp>
          <p:sp>
            <p:nvSpPr>
              <p:cNvPr id="93" name="Text 18">
                <a:extLst>
                  <a:ext uri="{FF2B5EF4-FFF2-40B4-BE49-F238E27FC236}">
                    <a16:creationId xmlns:a16="http://schemas.microsoft.com/office/drawing/2014/main" id="{AE7C455B-FE18-1A2C-8B2B-22770055D45A}"/>
                  </a:ext>
                </a:extLst>
              </p:cNvPr>
              <p:cNvSpPr/>
              <p:nvPr/>
            </p:nvSpPr>
            <p:spPr>
              <a:xfrm>
                <a:off x="5943600" y="1086739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Sécurité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 des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paiements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 </a:t>
                </a:r>
                <a:endParaRPr lang="en-US" sz="1050" dirty="0"/>
              </a:p>
            </p:txBody>
          </p:sp>
        </p:grpSp>
        <p:grpSp>
          <p:nvGrpSpPr>
            <p:cNvPr id="94" name="Groupe 93">
              <a:extLst>
                <a:ext uri="{FF2B5EF4-FFF2-40B4-BE49-F238E27FC236}">
                  <a16:creationId xmlns:a16="http://schemas.microsoft.com/office/drawing/2014/main" id="{3D5F3EB8-E2D2-407F-5462-8318283B5FE5}"/>
                </a:ext>
              </a:extLst>
            </p:cNvPr>
            <p:cNvGrpSpPr/>
            <p:nvPr/>
          </p:nvGrpSpPr>
          <p:grpSpPr>
            <a:xfrm>
              <a:off x="1249680" y="1503918"/>
              <a:ext cx="2540000" cy="641477"/>
              <a:chOff x="5943600" y="1039622"/>
              <a:chExt cx="1828800" cy="641477"/>
            </a:xfrm>
          </p:grpSpPr>
          <p:sp>
            <p:nvSpPr>
              <p:cNvPr id="95" name="Shape 15">
                <a:extLst>
                  <a:ext uri="{FF2B5EF4-FFF2-40B4-BE49-F238E27FC236}">
                    <a16:creationId xmlns:a16="http://schemas.microsoft.com/office/drawing/2014/main" id="{7C34BC33-A0AA-CDC2-2524-E0F38FB0841B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640080"/>
              </a:xfrm>
              <a:prstGeom prst="rect">
                <a:avLst/>
              </a:prstGeom>
              <a:solidFill>
                <a:srgbClr val="161E35"/>
              </a:solidFill>
              <a:ln/>
              <a:effectLst>
                <a:outerShdw blurRad="50800" dist="25400" dir="8100000" algn="b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fr-FR" dirty="0"/>
              </a:p>
            </p:txBody>
          </p:sp>
          <p:sp>
            <p:nvSpPr>
              <p:cNvPr id="96" name="Shape 16">
                <a:extLst>
                  <a:ext uri="{FF2B5EF4-FFF2-40B4-BE49-F238E27FC236}">
                    <a16:creationId xmlns:a16="http://schemas.microsoft.com/office/drawing/2014/main" id="{FA01269E-BD09-DFC5-99C7-E97DA65E3917}"/>
                  </a:ext>
                </a:extLst>
              </p:cNvPr>
              <p:cNvSpPr/>
              <p:nvPr/>
            </p:nvSpPr>
            <p:spPr>
              <a:xfrm>
                <a:off x="5943600" y="1039622"/>
                <a:ext cx="1828800" cy="54864"/>
              </a:xfrm>
              <a:prstGeom prst="rect">
                <a:avLst/>
              </a:prstGeom>
              <a:solidFill>
                <a:srgbClr val="6B21A8"/>
              </a:solidFill>
              <a:ln/>
            </p:spPr>
            <p:txBody>
              <a:bodyPr/>
              <a:lstStyle/>
              <a:p>
                <a:pPr algn="ctr"/>
                <a:endParaRPr lang="fr-FR"/>
              </a:p>
            </p:txBody>
          </p:sp>
          <p:sp>
            <p:nvSpPr>
              <p:cNvPr id="97" name="Text 18">
                <a:extLst>
                  <a:ext uri="{FF2B5EF4-FFF2-40B4-BE49-F238E27FC236}">
                    <a16:creationId xmlns:a16="http://schemas.microsoft.com/office/drawing/2014/main" id="{F3241F54-7AAE-0A12-54BF-8D07DFA774F9}"/>
                  </a:ext>
                </a:extLst>
              </p:cNvPr>
              <p:cNvSpPr/>
              <p:nvPr/>
            </p:nvSpPr>
            <p:spPr>
              <a:xfrm>
                <a:off x="5943600" y="1086739"/>
                <a:ext cx="1828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Sécurisation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l’architecture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50" b="1" dirty="0" err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globale</a:t>
                </a:r>
                <a:r>
                  <a:rPr lang="en-US" sz="10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050" dirty="0"/>
              </a:p>
            </p:txBody>
          </p:sp>
        </p:grpSp>
        <p:pic>
          <p:nvPicPr>
            <p:cNvPr id="99" name="Image 98" descr="Une image contenant symbole, logo, Graphique, cercle&#10;&#10;Le contenu généré par l’IA peut être incorrect.">
              <a:extLst>
                <a:ext uri="{FF2B5EF4-FFF2-40B4-BE49-F238E27FC236}">
                  <a16:creationId xmlns:a16="http://schemas.microsoft.com/office/drawing/2014/main" id="{EA66FAA8-EA24-CC53-6033-43E3F8A60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2857" y="2438337"/>
              <a:ext cx="707166" cy="707166"/>
            </a:xfrm>
            <a:prstGeom prst="rect">
              <a:avLst/>
            </a:prstGeom>
          </p:spPr>
        </p:pic>
        <p:cxnSp>
          <p:nvCxnSpPr>
            <p:cNvPr id="114" name="Connecteur droit 113">
              <a:extLst>
                <a:ext uri="{FF2B5EF4-FFF2-40B4-BE49-F238E27FC236}">
                  <a16:creationId xmlns:a16="http://schemas.microsoft.com/office/drawing/2014/main" id="{4717FF9B-D67B-9AB2-6DEE-343DD5916B36}"/>
                </a:ext>
              </a:extLst>
            </p:cNvPr>
            <p:cNvCxnSpPr>
              <a:cxnSpLocks/>
              <a:stCxn id="93" idx="3"/>
              <a:endCxn id="99" idx="1"/>
            </p:cNvCxnSpPr>
            <p:nvPr/>
          </p:nvCxnSpPr>
          <p:spPr>
            <a:xfrm>
              <a:off x="3789680" y="2782634"/>
              <a:ext cx="393177" cy="928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Connecteur droit 117">
              <a:extLst>
                <a:ext uri="{FF2B5EF4-FFF2-40B4-BE49-F238E27FC236}">
                  <a16:creationId xmlns:a16="http://schemas.microsoft.com/office/drawing/2014/main" id="{725C9F80-D4E5-A364-9D88-5122ED75D69D}"/>
                </a:ext>
              </a:extLst>
            </p:cNvPr>
            <p:cNvCxnSpPr>
              <a:cxnSpLocks/>
            </p:cNvCxnSpPr>
            <p:nvPr/>
          </p:nvCxnSpPr>
          <p:spPr>
            <a:xfrm>
              <a:off x="4890023" y="2782634"/>
              <a:ext cx="393177" cy="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Connecteur : en angle 120">
              <a:extLst>
                <a:ext uri="{FF2B5EF4-FFF2-40B4-BE49-F238E27FC236}">
                  <a16:creationId xmlns:a16="http://schemas.microsoft.com/office/drawing/2014/main" id="{CFF129AF-067F-35D1-7E7E-B97459DF9B03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 flipV="1">
              <a:off x="3789680" y="2795927"/>
              <a:ext cx="196588" cy="919729"/>
            </a:xfrm>
            <a:prstGeom prst="bentConnector2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Connecteur : en angle 123">
              <a:extLst>
                <a:ext uri="{FF2B5EF4-FFF2-40B4-BE49-F238E27FC236}">
                  <a16:creationId xmlns:a16="http://schemas.microsoft.com/office/drawing/2014/main" id="{01DC6D90-BEBC-1C6D-7D58-FB08C733125B}"/>
                </a:ext>
              </a:extLst>
            </p:cNvPr>
            <p:cNvCxnSpPr>
              <a:cxnSpLocks/>
              <a:stCxn id="87" idx="1"/>
            </p:cNvCxnSpPr>
            <p:nvPr/>
          </p:nvCxnSpPr>
          <p:spPr>
            <a:xfrm rot="10800000">
              <a:off x="5086612" y="2786143"/>
              <a:ext cx="196589" cy="905256"/>
            </a:xfrm>
            <a:prstGeom prst="bentConnector2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Connecteur : en angle 130">
              <a:extLst>
                <a:ext uri="{FF2B5EF4-FFF2-40B4-BE49-F238E27FC236}">
                  <a16:creationId xmlns:a16="http://schemas.microsoft.com/office/drawing/2014/main" id="{2E5E4F39-85ED-3FD5-2EB0-E179783B44A5}"/>
                </a:ext>
              </a:extLst>
            </p:cNvPr>
            <p:cNvCxnSpPr>
              <a:cxnSpLocks/>
              <a:stCxn id="97" idx="3"/>
            </p:cNvCxnSpPr>
            <p:nvPr/>
          </p:nvCxnSpPr>
          <p:spPr>
            <a:xfrm>
              <a:off x="3789680" y="1848215"/>
              <a:ext cx="196588" cy="946315"/>
            </a:xfrm>
            <a:prstGeom prst="bentConnector2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Connecteur : en angle 133">
              <a:extLst>
                <a:ext uri="{FF2B5EF4-FFF2-40B4-BE49-F238E27FC236}">
                  <a16:creationId xmlns:a16="http://schemas.microsoft.com/office/drawing/2014/main" id="{D1131CE0-E8B0-9483-E363-404F48E4D393}"/>
                </a:ext>
              </a:extLst>
            </p:cNvPr>
            <p:cNvCxnSpPr>
              <a:cxnSpLocks/>
              <a:stCxn id="79" idx="1"/>
            </p:cNvCxnSpPr>
            <p:nvPr/>
          </p:nvCxnSpPr>
          <p:spPr>
            <a:xfrm rot="10800000" flipV="1">
              <a:off x="5086612" y="1822560"/>
              <a:ext cx="196589" cy="1007191"/>
            </a:xfrm>
            <a:prstGeom prst="bentConnector2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du Backend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 – API et données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9576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25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 </a:t>
            </a:r>
            <a:r>
              <a:rPr lang="en-US" sz="2200" b="1" dirty="0" err="1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1682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Empêcher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autorisés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données critiques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52161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" y="2052161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3601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116169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211616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: isolation par utilisateur/role  | 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chiffrage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585910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7200" y="258591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7735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64991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474720" y="264991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clients, MFA obligatoire admins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116072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57200" y="3116072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1051560" y="3180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 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474720" y="3180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injections (SQL / API abuse) 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643568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57200" y="3643568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3500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3707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74720" y="3707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Client / Admin</a:t>
            </a:r>
            <a:endParaRPr lang="en-US" sz="1200" dirty="0"/>
          </a:p>
        </p:txBody>
      </p:sp>
      <p:pic>
        <p:nvPicPr>
          <p:cNvPr id="29" name="Image 0" descr="/home/claude/logo_cyna.png">
            <a:extLst>
              <a:ext uri="{FF2B5EF4-FFF2-40B4-BE49-F238E27FC236}">
                <a16:creationId xmlns:a16="http://schemas.microsoft.com/office/drawing/2014/main" id="{9F75DBBC-D52D-4704-931D-5A7A6AF09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30" name="Image 29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A2E30589-2C88-9862-5E29-0867574056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  <p:sp>
        <p:nvSpPr>
          <p:cNvPr id="31" name="Shape 18">
            <a:extLst>
              <a:ext uri="{FF2B5EF4-FFF2-40B4-BE49-F238E27FC236}">
                <a16:creationId xmlns:a16="http://schemas.microsoft.com/office/drawing/2014/main" id="{BF464644-DDD4-A2FD-875B-D69C4BFA1DAA}"/>
              </a:ext>
            </a:extLst>
          </p:cNvPr>
          <p:cNvSpPr/>
          <p:nvPr/>
        </p:nvSpPr>
        <p:spPr>
          <a:xfrm>
            <a:off x="457200" y="4179399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0D525B34-A8D4-76A9-028C-3ED6AC0CB394}"/>
              </a:ext>
            </a:extLst>
          </p:cNvPr>
          <p:cNvSpPr/>
          <p:nvPr/>
        </p:nvSpPr>
        <p:spPr>
          <a:xfrm>
            <a:off x="457200" y="4179399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94B9C627-6FC7-98CE-64A5-133BEDF6569C}"/>
              </a:ext>
            </a:extLst>
          </p:cNvPr>
          <p:cNvSpPr/>
          <p:nvPr/>
        </p:nvSpPr>
        <p:spPr>
          <a:xfrm>
            <a:off x="1051560" y="424340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2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39169563-5A5A-A863-D723-8938DA8CE351}"/>
              </a:ext>
            </a:extLst>
          </p:cNvPr>
          <p:cNvSpPr/>
          <p:nvPr/>
        </p:nvSpPr>
        <p:spPr>
          <a:xfrm>
            <a:off x="3474720" y="4243407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actions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monitoring</a:t>
            </a:r>
            <a:endParaRPr lang="en-US" sz="1200" dirty="0"/>
          </a:p>
        </p:txBody>
      </p:sp>
      <p:pic>
        <p:nvPicPr>
          <p:cNvPr id="37" name="Graphique 36" descr="Terminal Cmd avec un remplissage uni">
            <a:extLst>
              <a:ext uri="{FF2B5EF4-FFF2-40B4-BE49-F238E27FC236}">
                <a16:creationId xmlns:a16="http://schemas.microsoft.com/office/drawing/2014/main" id="{CF4C0D18-217D-C2AD-0FD5-D8CB2A2EFA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614" y="3154763"/>
            <a:ext cx="349252" cy="349252"/>
          </a:xfrm>
          <a:prstGeom prst="rect">
            <a:avLst/>
          </a:prstGeom>
        </p:spPr>
      </p:pic>
      <p:pic>
        <p:nvPicPr>
          <p:cNvPr id="39" name="Graphique 38" descr="Serveur avec un remplissage uni">
            <a:extLst>
              <a:ext uri="{FF2B5EF4-FFF2-40B4-BE49-F238E27FC236}">
                <a16:creationId xmlns:a16="http://schemas.microsoft.com/office/drawing/2014/main" id="{5161A547-FB93-B2FA-B944-6C8E88442C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549" y="4254438"/>
            <a:ext cx="320040" cy="32004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3A35E-58E0-7BFF-A245-CD4D8741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FCF91C-7539-7AE0-B1F4-471E871BD53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3C0170-F078-C78C-DF57-2278CB2FE844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3138B4-4D54-2835-CEE0-305BCBCD8AE9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du Frontend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923005-BA2A-87E9-C48D-58EF147A4759}"/>
              </a:ext>
            </a:extLst>
          </p:cNvPr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 – Interface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458AF5C-EAAF-2713-1C26-25CC599095D6}"/>
              </a:ext>
            </a:extLst>
          </p:cNvPr>
          <p:cNvSpPr/>
          <p:nvPr/>
        </p:nvSpPr>
        <p:spPr>
          <a:xfrm>
            <a:off x="1463040" y="1225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 </a:t>
            </a:r>
            <a:r>
              <a:rPr lang="en-US" sz="2200" b="1" dirty="0" err="1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principales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9D1357-73EC-0A6B-A982-314534247CA5}"/>
              </a:ext>
            </a:extLst>
          </p:cNvPr>
          <p:cNvSpPr/>
          <p:nvPr/>
        </p:nvSpPr>
        <p:spPr>
          <a:xfrm>
            <a:off x="1463040" y="1682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Empêcher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autorisés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données critiques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ED7CB79-1760-4B02-D8F9-C8ED9F4FE4F7}"/>
              </a:ext>
            </a:extLst>
          </p:cNvPr>
          <p:cNvSpPr/>
          <p:nvPr/>
        </p:nvSpPr>
        <p:spPr>
          <a:xfrm>
            <a:off x="457200" y="2189321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12FE89C-828F-4FC0-149B-9A8C7F7F4578}"/>
              </a:ext>
            </a:extLst>
          </p:cNvPr>
          <p:cNvSpPr/>
          <p:nvPr/>
        </p:nvSpPr>
        <p:spPr>
          <a:xfrm>
            <a:off x="457200" y="2189321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446E37C-2DF6-5BCD-1BE4-84187C17476C}"/>
              </a:ext>
            </a:extLst>
          </p:cNvPr>
          <p:cNvSpPr/>
          <p:nvPr/>
        </p:nvSpPr>
        <p:spPr>
          <a:xfrm>
            <a:off x="1051560" y="2253329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622FF82-8113-D4BB-B426-28B4DC3A7350}"/>
              </a:ext>
            </a:extLst>
          </p:cNvPr>
          <p:cNvSpPr/>
          <p:nvPr/>
        </p:nvSpPr>
        <p:spPr>
          <a:xfrm>
            <a:off x="3474720" y="225332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d’une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sécurisée</a:t>
            </a:r>
            <a:endParaRPr lang="en-US" sz="12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6C33FB6-A2F5-08D8-179E-F03F63A40FF4}"/>
              </a:ext>
            </a:extLst>
          </p:cNvPr>
          <p:cNvSpPr/>
          <p:nvPr/>
        </p:nvSpPr>
        <p:spPr>
          <a:xfrm>
            <a:off x="457200" y="2723070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981E7A0-DAC6-5469-5F1F-D6E24CE75A33}"/>
              </a:ext>
            </a:extLst>
          </p:cNvPr>
          <p:cNvSpPr/>
          <p:nvPr/>
        </p:nvSpPr>
        <p:spPr>
          <a:xfrm>
            <a:off x="457200" y="272307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4BECA65B-E339-4A3E-2075-A42742057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14510"/>
            <a:ext cx="274320" cy="27432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B4A61AA3-9BD8-D1D3-677A-E1F879FE974E}"/>
              </a:ext>
            </a:extLst>
          </p:cNvPr>
          <p:cNvSpPr/>
          <p:nvPr/>
        </p:nvSpPr>
        <p:spPr>
          <a:xfrm>
            <a:off x="1051560" y="278707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F0F77F4-EC88-77C6-12E9-BCD64C47AA7F}"/>
              </a:ext>
            </a:extLst>
          </p:cNvPr>
          <p:cNvSpPr/>
          <p:nvPr/>
        </p:nvSpPr>
        <p:spPr>
          <a:xfrm>
            <a:off x="3474720" y="278707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clients, MFA obligatoire admins</a:t>
            </a:r>
            <a:endParaRPr lang="en-US" sz="12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19F0E99B-66AF-5FAC-0FA2-7333F707514F}"/>
              </a:ext>
            </a:extLst>
          </p:cNvPr>
          <p:cNvSpPr/>
          <p:nvPr/>
        </p:nvSpPr>
        <p:spPr>
          <a:xfrm>
            <a:off x="457200" y="3253232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D049EE69-CA01-6869-F9CB-F44BEDF1E1A4}"/>
              </a:ext>
            </a:extLst>
          </p:cNvPr>
          <p:cNvSpPr/>
          <p:nvPr/>
        </p:nvSpPr>
        <p:spPr>
          <a:xfrm>
            <a:off x="457200" y="3253232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D1CAC86-6570-A26D-A4AA-C88BA32CB7DE}"/>
              </a:ext>
            </a:extLst>
          </p:cNvPr>
          <p:cNvSpPr/>
          <p:nvPr/>
        </p:nvSpPr>
        <p:spPr>
          <a:xfrm>
            <a:off x="1051560" y="331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 </a:t>
            </a:r>
            <a:endParaRPr lang="en-US" sz="12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6F86FB7-8EB6-F050-BFD4-0E4C6678D0DC}"/>
              </a:ext>
            </a:extLst>
          </p:cNvPr>
          <p:cNvSpPr/>
          <p:nvPr/>
        </p:nvSpPr>
        <p:spPr>
          <a:xfrm>
            <a:off x="3474720" y="331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injections XSS</a:t>
            </a:r>
            <a:endParaRPr lang="en-US" sz="12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1D75E1EF-C7BE-3D7A-5AF0-A6C031F8D5EA}"/>
              </a:ext>
            </a:extLst>
          </p:cNvPr>
          <p:cNvSpPr/>
          <p:nvPr/>
        </p:nvSpPr>
        <p:spPr>
          <a:xfrm>
            <a:off x="457200" y="3780728"/>
            <a:ext cx="82296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20346956-A277-E205-D1A3-5CD3EA48527A}"/>
              </a:ext>
            </a:extLst>
          </p:cNvPr>
          <p:cNvSpPr/>
          <p:nvPr/>
        </p:nvSpPr>
        <p:spPr>
          <a:xfrm>
            <a:off x="457200" y="3780728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66955339-D56C-CA6A-043B-C2089534A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72168"/>
            <a:ext cx="274320" cy="274320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133C3EA6-D205-BA93-FA80-F17E4D42510D}"/>
              </a:ext>
            </a:extLst>
          </p:cNvPr>
          <p:cNvSpPr/>
          <p:nvPr/>
        </p:nvSpPr>
        <p:spPr>
          <a:xfrm>
            <a:off x="1051560" y="3844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et stockage</a:t>
            </a:r>
            <a:endParaRPr lang="en-US" sz="12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6C50C9D2-0552-CB37-4BFA-526491E0BA0D}"/>
              </a:ext>
            </a:extLst>
          </p:cNvPr>
          <p:cNvSpPr/>
          <p:nvPr/>
        </p:nvSpPr>
        <p:spPr>
          <a:xfrm>
            <a:off x="3474720" y="38447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sessions avec expiration et protections des données locales</a:t>
            </a:r>
            <a:endParaRPr lang="en-US" sz="1200" dirty="0"/>
          </a:p>
        </p:txBody>
      </p:sp>
      <p:pic>
        <p:nvPicPr>
          <p:cNvPr id="29" name="Image 0" descr="/home/claude/logo_cyna.png">
            <a:extLst>
              <a:ext uri="{FF2B5EF4-FFF2-40B4-BE49-F238E27FC236}">
                <a16:creationId xmlns:a16="http://schemas.microsoft.com/office/drawing/2014/main" id="{8B85775F-70A7-E8CA-1C2B-BE5914CA9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30" name="Image 29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24BFCCA6-3B7B-F18E-9EC0-930A593C2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  <p:pic>
        <p:nvPicPr>
          <p:cNvPr id="37" name="Graphique 36" descr="Terminal Cmd avec un remplissage uni">
            <a:extLst>
              <a:ext uri="{FF2B5EF4-FFF2-40B4-BE49-F238E27FC236}">
                <a16:creationId xmlns:a16="http://schemas.microsoft.com/office/drawing/2014/main" id="{AC13262A-7DDF-635D-4499-E22400AB60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614" y="3291923"/>
            <a:ext cx="349252" cy="349252"/>
          </a:xfrm>
          <a:prstGeom prst="rect">
            <a:avLst/>
          </a:prstGeom>
        </p:spPr>
      </p:pic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7D00F55C-7495-285C-DCCA-610035438A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1220215"/>
            <a:ext cx="736601" cy="736601"/>
          </a:xfrm>
          <a:prstGeom prst="rect">
            <a:avLst/>
          </a:prstGeom>
        </p:spPr>
      </p:pic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1FFD4B20-0B66-1076-FB5E-69789CABF9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464" y="2270944"/>
            <a:ext cx="309551" cy="3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11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des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sécurisée des paiements et abonnements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paiement en ligne, conforme PCI-DSS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50292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sécurisé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40380" y="256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hébergée Stripe, carte enregistrée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50292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50292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017520" y="317525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 : succès, échec, renouvellement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50292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49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999935" y="374974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Mensuel/annuel, upgrade/downgrade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943600" y="2016760"/>
            <a:ext cx="2834640" cy="210312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5943600" y="2016760"/>
            <a:ext cx="283464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29108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0" y="2885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PCI-DSS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6126480" y="3251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gère 100% de la sécurité des paiements.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3662680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943600" y="3845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donnée bancaire stockée</a:t>
            </a:r>
            <a:endParaRPr lang="en-US" sz="1000" dirty="0"/>
          </a:p>
        </p:txBody>
      </p:sp>
      <p:pic>
        <p:nvPicPr>
          <p:cNvPr id="31" name="Image 0" descr="/home/claude/logo_cyna.png">
            <a:extLst>
              <a:ext uri="{FF2B5EF4-FFF2-40B4-BE49-F238E27FC236}">
                <a16:creationId xmlns:a16="http://schemas.microsoft.com/office/drawing/2014/main" id="{4B2FE5AB-D4BB-28A0-FD1F-BEA9B2FCCC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32" name="Image 31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289DAC6E-B36E-15F6-B5D4-28F799B33F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E52F9-A06E-43B2-376E-3DF968BA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BDD0DE-9855-0983-AA94-1C3B5AAF147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79B23B-991A-55DC-9B85-2BC5B77D98BC}"/>
              </a:ext>
            </a:extLst>
          </p:cNvPr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428608-4EDD-AF24-F5C2-982786A405DA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globale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 Vision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E9D87F-6A1E-6B8C-8B83-811A9983C9B9}"/>
              </a:ext>
            </a:extLst>
          </p:cNvPr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intervient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les phases du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860528F-0201-3CCA-B1D3-463C5A03C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" y="1910715"/>
            <a:ext cx="182880" cy="18288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88BE0B05-6873-4E2F-78C9-439DE8EAB1E3}"/>
              </a:ext>
            </a:extLst>
          </p:cNvPr>
          <p:cNvSpPr/>
          <p:nvPr/>
        </p:nvSpPr>
        <p:spPr>
          <a:xfrm>
            <a:off x="877570" y="18638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aux choix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d’architecture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technique</a:t>
            </a:r>
            <a:endParaRPr lang="en-US" sz="12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35771D9-D26C-DB39-9FE0-F910D1D46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" y="2294763"/>
            <a:ext cx="182880" cy="18288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4D9624D9-364A-B5A5-2745-8793DE42165D}"/>
              </a:ext>
            </a:extLst>
          </p:cNvPr>
          <p:cNvSpPr/>
          <p:nvPr/>
        </p:nvSpPr>
        <p:spPr>
          <a:xfrm>
            <a:off x="877570" y="22478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identification des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vulnébilités</a:t>
            </a:r>
            <a:endParaRPr lang="en-US" sz="12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9C1F886D-BA55-1A0B-A839-97C21CDE2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" y="2678811"/>
            <a:ext cx="182880" cy="18288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523A4D3F-EC89-3994-235B-B4D4A4734BB9}"/>
              </a:ext>
            </a:extLst>
          </p:cNvPr>
          <p:cNvSpPr/>
          <p:nvPr/>
        </p:nvSpPr>
        <p:spPr>
          <a:xfrm>
            <a:off x="877570" y="26319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RGPD</a:t>
            </a:r>
            <a:endParaRPr lang="en-US" sz="120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AE9E353B-46F1-6551-A712-AB57539EC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50" y="2723356"/>
            <a:ext cx="182880" cy="18288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B10F20BA-0C85-8F12-767C-A3EC06295C72}"/>
              </a:ext>
            </a:extLst>
          </p:cNvPr>
          <p:cNvSpPr/>
          <p:nvPr/>
        </p:nvSpPr>
        <p:spPr>
          <a:xfrm>
            <a:off x="5266690" y="265249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OWASP</a:t>
            </a:r>
            <a:endParaRPr lang="en-US" sz="120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A2D830B7-A16C-3C57-145D-DA7C3692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50" y="1934686"/>
            <a:ext cx="182880" cy="18288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B1D4BA54-E8F0-BD89-9928-6FEA8F8B0411}"/>
              </a:ext>
            </a:extLst>
          </p:cNvPr>
          <p:cNvSpPr/>
          <p:nvPr/>
        </p:nvSpPr>
        <p:spPr>
          <a:xfrm>
            <a:off x="5266690" y="18638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Support à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l’équipe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lors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 du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développement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 Front &amp; Back</a:t>
            </a:r>
            <a:endParaRPr lang="en-US" sz="1200" dirty="0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9B6D3533-6BD9-76A3-9192-B114A1EDE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50" y="2318734"/>
            <a:ext cx="182880" cy="182880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A047B31B-7651-96CC-754B-4F36221794D9}"/>
              </a:ext>
            </a:extLst>
          </p:cNvPr>
          <p:cNvSpPr/>
          <p:nvPr/>
        </p:nvSpPr>
        <p:spPr>
          <a:xfrm>
            <a:off x="5266690" y="22478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aux tests et validations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ED67C8BF-1D92-55BD-D403-4ABBE410371D}"/>
              </a:ext>
            </a:extLst>
          </p:cNvPr>
          <p:cNvSpPr/>
          <p:nvPr/>
        </p:nvSpPr>
        <p:spPr>
          <a:xfrm>
            <a:off x="4443730" y="1698466"/>
            <a:ext cx="0" cy="1371600"/>
          </a:xfrm>
          <a:prstGeom prst="line">
            <a:avLst/>
          </a:prstGeom>
          <a:noFill/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2" name="Image 0" descr="/home/claude/logo_cyna.png">
            <a:extLst>
              <a:ext uri="{FF2B5EF4-FFF2-40B4-BE49-F238E27FC236}">
                <a16:creationId xmlns:a16="http://schemas.microsoft.com/office/drawing/2014/main" id="{9CA56F75-DA51-2E02-5FE3-AF7D15990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46" name="Image 4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CEC90DB8-A257-E8DB-587D-A04EA7876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47116AFC-11B9-F5FF-7F44-5154B1658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903" y="3606499"/>
            <a:ext cx="731520" cy="731520"/>
          </a:xfrm>
          <a:prstGeom prst="rect">
            <a:avLst/>
          </a:prstGeom>
        </p:spPr>
      </p:pic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923FDBFF-86E6-A554-C115-F106C246D6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7556" y="3564368"/>
            <a:ext cx="778510" cy="778510"/>
          </a:xfrm>
          <a:prstGeom prst="rect">
            <a:avLst/>
          </a:prstGeom>
        </p:spPr>
      </p:pic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95486C18-A470-EABE-3EBE-727B04BA1F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9499" y="3603958"/>
            <a:ext cx="736601" cy="736601"/>
          </a:xfrm>
          <a:prstGeom prst="rect">
            <a:avLst/>
          </a:prstGeom>
        </p:spPr>
      </p:pic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94B772F2-7CF1-1A72-DBCD-73EAC2839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7398" y="3578796"/>
            <a:ext cx="786923" cy="78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76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28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3 blocs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1828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React, Backend Supabase, Paiement Stripe — découplés et communiquant via API et webhooks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97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au cœur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71600" y="29260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RBAC, MFA admin, JWT, PCI-DSS — la sécurité est intégrée à chaque couche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61E35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457200" y="3566160"/>
            <a:ext cx="82296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947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moderne &amp; scalable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40233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éprouvées, open-source, rapides à déployer et prêtes pour la montée en charge</a:t>
            </a:r>
            <a:endParaRPr lang="en-US" sz="1200" dirty="0"/>
          </a:p>
        </p:txBody>
      </p:sp>
      <p:pic>
        <p:nvPicPr>
          <p:cNvPr id="22" name="Image 0" descr="/home/claude/logo_cyna.png">
            <a:extLst>
              <a:ext uri="{FF2B5EF4-FFF2-40B4-BE49-F238E27FC236}">
                <a16:creationId xmlns:a16="http://schemas.microsoft.com/office/drawing/2014/main" id="{837EAB03-BF8E-EDF7-B71C-EF75BC454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0787"/>
            <a:ext cx="1097280" cy="376210"/>
          </a:xfrm>
          <a:prstGeom prst="rect">
            <a:avLst/>
          </a:prstGeom>
        </p:spPr>
      </p:pic>
      <p:pic>
        <p:nvPicPr>
          <p:cNvPr id="21" name="Image 2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2C316716-2E84-4260-AA68-D652CA435D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59" y="4775518"/>
            <a:ext cx="914401" cy="303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logo_cy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48640"/>
            <a:ext cx="2743200" cy="941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474720" y="3200400"/>
            <a:ext cx="219456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Amine DELHEM · Institut Limayrac · B3 DEV</a:t>
            </a:r>
            <a:endParaRPr lang="en-US" sz="1100" dirty="0"/>
          </a:p>
        </p:txBody>
      </p:sp>
      <p:pic>
        <p:nvPicPr>
          <p:cNvPr id="10" name="Image 9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F0BDF5C2-15EC-F0FC-3F40-25E25B329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369" y="4265677"/>
            <a:ext cx="1537432" cy="5098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590</Words>
  <Application>Microsoft Office PowerPoint</Application>
  <PresentationFormat>Affichage à l'écran (16:9)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CYNA - Architecture &amp; Back-end</dc:title>
  <dc:subject>PptxGenJS Presentation</dc:subject>
  <dc:creator>Ilane MAC-LUCKIE</dc:creator>
  <cp:lastModifiedBy>Britney Glorious</cp:lastModifiedBy>
  <cp:revision>8</cp:revision>
  <dcterms:created xsi:type="dcterms:W3CDTF">2026-02-19T08:39:05Z</dcterms:created>
  <dcterms:modified xsi:type="dcterms:W3CDTF">2026-02-19T23:04:16Z</dcterms:modified>
</cp:coreProperties>
</file>