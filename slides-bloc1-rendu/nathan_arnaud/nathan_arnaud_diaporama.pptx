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7B8CE8-04C4-4E0C-8708-E99FFCC17D6F}">
  <a:tblStyle styleId="{3B7B8CE8-04C4-4E0C-8708-E99FFCC17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969bb8aaa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g3c969bb8aaa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c969bb8aaa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96c157a5e_0_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g3c96c157a5e_0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c96c157a5e_0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jpg"/><Relationship Id="rId6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9.jp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9.jp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.jpg"/><Relationship Id="rId7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661182"/>
            <a:ext cx="320040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457200" y="203278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0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rchitecture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et Gouvernance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Google Shape;16;p3"/>
          <p:cNvCxnSpPr/>
          <p:nvPr/>
        </p:nvCxnSpPr>
        <p:spPr>
          <a:xfrm>
            <a:off x="3474720" y="2764302"/>
            <a:ext cx="2194560" cy="0"/>
          </a:xfrm>
          <a:prstGeom prst="straightConnector1">
            <a:avLst/>
          </a:prstGeom>
          <a:noFill/>
          <a:ln cap="flat" cmpd="sng" w="254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/>
          <p:nvPr/>
        </p:nvSpPr>
        <p:spPr>
          <a:xfrm>
            <a:off x="457200" y="303862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Nathan ARNAUD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340438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Institut Limayrac · B3 DEV · Bloc 1 · 20/02/2026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limayrac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846" y="4598025"/>
            <a:ext cx="1097280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Contexte rapide et répartition des rôles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72200" y="1600125"/>
            <a:ext cx="3698700" cy="14631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72194" y="1600125"/>
            <a:ext cx="36987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810" y="178301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1097722" y="1781904"/>
            <a:ext cx="161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projet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39550" y="2240200"/>
            <a:ext cx="220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Plateforme e-commerce SaaS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 cybersécurité (SOC, EDR, XDR)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destinée aux entreprises.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90787"/>
            <a:ext cx="1097280" cy="37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logo_limayrac.png" id="35" name="Google Shape;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575" y="4777740"/>
            <a:ext cx="822960" cy="24003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4389725" y="1600125"/>
            <a:ext cx="3698700" cy="26202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389719" y="1600125"/>
            <a:ext cx="36987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4713595" y="243220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</a:rPr>
              <a:t>• Un site web e-commerce mobile-first (SPA responsive)</a:t>
            </a:r>
            <a:endParaRPr sz="1200">
              <a:solidFill>
                <a:srgbClr val="94A3B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</a:rPr>
              <a:t>• Une application mobile Android/iOS (miroir du site)</a:t>
            </a:r>
            <a:endParaRPr sz="1200">
              <a:solidFill>
                <a:srgbClr val="94A3B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</a:rPr>
              <a:t>• Un back-office de gestion pour les administrateurs</a:t>
            </a:r>
            <a:endParaRPr sz="1200">
              <a:solidFill>
                <a:srgbClr val="94A3B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</a:rPr>
              <a:t>• Un système de paiement sécurisé par abonnement</a:t>
            </a:r>
            <a:endParaRPr sz="1200">
              <a:solidFill>
                <a:srgbClr val="94A3B8"/>
              </a:solidFill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193360" y="1920229"/>
            <a:ext cx="161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projet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713600" y="1920225"/>
            <a:ext cx="297900" cy="320100"/>
          </a:xfrm>
          <a:prstGeom prst="star4">
            <a:avLst>
              <a:gd fmla="val 125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7772400" y="475488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GOUVERNANCE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57200" y="7772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épartition des rôles et organisation du travail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65750" y="1257374"/>
            <a:ext cx="4114800" cy="17658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65740" y="1257385"/>
            <a:ext cx="41148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72" y="1357969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1051540" y="1394545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Équipe &amp; Rôles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60" y="1778593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914380" y="1760305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Isaac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285980" y="1760305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Front-end 115h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60" y="2071201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914380" y="2052913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Ilane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285980" y="2052913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Back-end 130h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60" y="2363809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914380" y="2345521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285980" y="2345521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Sécurité 98 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60" y="2656417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914380" y="2638129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Nathan</a:t>
            </a:r>
            <a:endParaRPr sz="11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285980" y="2638129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Backlog/Backoffice 103h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739400" y="1257375"/>
            <a:ext cx="3775800" cy="20439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739405" y="1257375"/>
            <a:ext cx="37758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968005" y="1394525"/>
            <a:ext cx="354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Mon périmètre : </a:t>
            </a:r>
            <a:r>
              <a:rPr b="1" lang="en-US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Backlog + Backoffice (admin)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8010" y="1851735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5169178" y="1824303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Contra</a:t>
            </a: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ntes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8010" y="2192385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5169178" y="2160378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Priorisation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185" y="185521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6431103" y="1830350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User stories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173" y="220211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6394341" y="2152363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Sprint planning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8010" y="25135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5178312" y="2497540"/>
            <a:ext cx="55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Paiement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185" y="25295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6394353" y="2474403"/>
            <a:ext cx="118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Messages &amp; Chatbot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81" name="Google Shape;8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90787"/>
            <a:ext cx="1097281" cy="37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logo_limayrac.png" id="82" name="Google Shape;8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575" y="4777740"/>
            <a:ext cx="822960" cy="240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8010" y="2834735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5178291" y="2807767"/>
            <a:ext cx="9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 ventes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910" y="2823385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6404191" y="2796417"/>
            <a:ext cx="9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MFA Admin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200" y="3449121"/>
            <a:ext cx="8058000" cy="8430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7210" y="3457535"/>
            <a:ext cx="80580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22" y="3558119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1142990" y="3594695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Outils Utilisé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2149628" y="3956521"/>
            <a:ext cx="365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Trello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276877" y="3956521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Serveur Discord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952827" y="3956521"/>
            <a:ext cx="41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131678" y="3937096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Drive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772300" y="4760668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GOUVERNANCE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57200" y="7772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Work Breakdown Structure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90787"/>
            <a:ext cx="1097281" cy="37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logo_limayrac.png" id="105" name="Google Shape;1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575" y="4777740"/>
            <a:ext cx="822960" cy="240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021537"/>
            <a:ext cx="8839198" cy="21125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p6"/>
          <p:cNvGraphicFramePr/>
          <p:nvPr/>
        </p:nvGraphicFramePr>
        <p:xfrm>
          <a:off x="119575" y="34410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{3B7B8CE8-04C4-4E0C-8708-E99FFCC17D6F}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8B5CF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Tâche</a:t>
                      </a:r>
                      <a:endParaRPr>
                        <a:solidFill>
                          <a:srgbClr val="8B5CF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700">
                          <a:solidFill>
                            <a:srgbClr val="8B5CF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Livrable</a:t>
                      </a:r>
                      <a:endParaRPr b="1" sz="700">
                        <a:solidFill>
                          <a:srgbClr val="8B5CF6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8B5CF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700">
                          <a:solidFill>
                            <a:srgbClr val="8B5CF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Fréq.</a:t>
                      </a:r>
                      <a:endParaRPr b="1" sz="700">
                        <a:solidFill>
                          <a:srgbClr val="8B5CF6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8B5CF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700">
                          <a:solidFill>
                            <a:srgbClr val="8B5CF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Ilane</a:t>
                      </a:r>
                      <a:endParaRPr b="1" sz="700">
                        <a:solidFill>
                          <a:srgbClr val="8B5CF6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8B5CF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700">
                          <a:solidFill>
                            <a:srgbClr val="8B5CF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Isaac</a:t>
                      </a:r>
                      <a:endParaRPr b="1" sz="700">
                        <a:solidFill>
                          <a:srgbClr val="8B5CF6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8B5CF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700">
                          <a:solidFill>
                            <a:srgbClr val="8B5CF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Nathan</a:t>
                      </a:r>
                      <a:endParaRPr b="1" sz="700">
                        <a:solidFill>
                          <a:srgbClr val="8B5CF6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8B5CF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700">
                          <a:solidFill>
                            <a:srgbClr val="8B5CF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Mohamed</a:t>
                      </a:r>
                      <a:endParaRPr b="1" sz="700">
                        <a:solidFill>
                          <a:srgbClr val="8B5CF6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8B5CF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b="1" lang="en-US" sz="700">
                          <a:solidFill>
                            <a:srgbClr val="8B5CF6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TOTAL (h)</a:t>
                      </a:r>
                      <a:endParaRPr>
                        <a:solidFill>
                          <a:srgbClr val="8B5CF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Macro-planning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i="1" lang="en-US" sz="700">
                          <a:solidFill>
                            <a:schemeClr val="lt1"/>
                          </a:solidFill>
                        </a:rPr>
                        <a:t>Gantt / Planning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i="1" lang="en-US" sz="700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700">
                          <a:solidFill>
                            <a:schemeClr val="lt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700">
                          <a:solidFill>
                            <a:schemeClr val="lt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700">
                          <a:solidFill>
                            <a:schemeClr val="lt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700">
                          <a:solidFill>
                            <a:schemeClr val="lt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700">
                          <a:solidFill>
                            <a:schemeClr val="lt1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B5C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6"/>
          <p:cNvSpPr/>
          <p:nvPr/>
        </p:nvSpPr>
        <p:spPr>
          <a:xfrm>
            <a:off x="7447450" y="3240479"/>
            <a:ext cx="1564200" cy="5487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7447459" y="3240475"/>
            <a:ext cx="15642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7447450" y="3258751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400"/>
              <a:buFont typeface="Trebuchet MS"/>
              <a:buNone/>
            </a:pPr>
            <a:r>
              <a:rPr b="1" lang="en-US" sz="2200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~450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357125" y="3258750"/>
            <a:ext cx="65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heures équipe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447400" y="4030029"/>
            <a:ext cx="1564200" cy="54870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7447409" y="4030025"/>
            <a:ext cx="1564200" cy="549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7447400" y="4048301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400"/>
              <a:buFont typeface="Trebuchet MS"/>
              <a:buNone/>
            </a:pPr>
            <a:r>
              <a:rPr b="1" lang="en-US" sz="2200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~64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357075" y="4048300"/>
            <a:ext cx="65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Jours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SWOT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Forces, Faiblesses, Opportunités et Menaces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90787"/>
            <a:ext cx="1097280" cy="37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logo_limayrac.png" id="126" name="Google Shape;12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575" y="4777740"/>
            <a:ext cx="822960" cy="240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4935" y="1249680"/>
            <a:ext cx="6022100" cy="3741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CHOIX TECHNIQUES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Compte tenu des contraintes, voici nos technologies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57200" y="1371600"/>
            <a:ext cx="82296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/>
          <p:nvPr/>
        </p:nvSpPr>
        <p:spPr>
          <a:xfrm>
            <a:off x="1371600" y="1508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React (SPA)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3383280" y="150876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Performances SPA, composants réutilisables, mobile-first, large communauté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8346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1371600" y="2697475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Supabase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383280" y="269748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PostgreSQL + Auth + RLS intégrés, Edge Functions serverless, temps réel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161E35"/>
          </a:solidFill>
          <a:ln>
            <a:noFill/>
          </a:ln>
          <a:effectLst>
            <a:outerShdw blurRad="508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57200" y="3749040"/>
            <a:ext cx="82296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40233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1371600" y="3886200"/>
            <a:ext cx="7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Stripe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383280" y="388620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PCI-DSS natif, abonnements clé en main, webhooks fiables, sandbox gratuit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152" name="Google Shape;15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0" y="90787"/>
            <a:ext cx="1097280" cy="376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logo_limayrac.png" id="153" name="Google Shape;15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575" y="4777740"/>
            <a:ext cx="822960" cy="240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cyna.png" id="161" name="Google Shape;1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548640"/>
            <a:ext cx="2743200" cy="9418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9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5600"/>
              <a:buFont typeface="Trebuchet MS"/>
              <a:buNone/>
            </a:pPr>
            <a:r>
              <a:rPr b="1" lang="en-US" sz="5600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MERCI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 questions 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9"/>
          <p:cNvCxnSpPr/>
          <p:nvPr/>
        </p:nvCxnSpPr>
        <p:spPr>
          <a:xfrm>
            <a:off x="3474720" y="3200400"/>
            <a:ext cx="2194560" cy="0"/>
          </a:xfrm>
          <a:prstGeom prst="straightConnector1">
            <a:avLst/>
          </a:prstGeom>
          <a:noFill/>
          <a:ln cap="flat" cmpd="sng" w="254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9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Nathan ARNAUD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· Institut Limayrac · B3 DEV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ogo_limayrac.png" id="166" name="Google Shape;1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9520" y="4480560"/>
            <a:ext cx="1097280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